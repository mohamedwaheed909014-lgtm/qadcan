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bd4b48bb642a4" /><Relationship Type="http://schemas.openxmlformats.org/officeDocument/2006/relationships/extended-properties" Target="/docProps/app.xml" Id="R4ac0ac4704ef449c" /><Relationship Type="http://schemas.openxmlformats.org/officeDocument/2006/relationships/officeDocument" Target="/ppt/presentation.xml" Id="R54b9e4bb295f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2938703934881"/>
  </p:sldMasterIdLst>
  <p:notesMasterIdLst>
    <p:notesMasterId xmlns:r="http://schemas.openxmlformats.org/officeDocument/2006/relationships" r:id="R550b183bc9364b20"/>
  </p:notesMasterIdLst>
  <p:sldIdLst>
    <p:sldId xmlns:r="http://schemas.openxmlformats.org/officeDocument/2006/relationships" id="256" r:id="R5cd7a00ac6f3447d"/>
    <p:sldId xmlns:r="http://schemas.openxmlformats.org/officeDocument/2006/relationships" id="257" r:id="R4502766964934784"/>
    <p:sldId xmlns:r="http://schemas.openxmlformats.org/officeDocument/2006/relationships" id="258" r:id="R3ce5a285d220432b"/>
    <p:sldId xmlns:r="http://schemas.openxmlformats.org/officeDocument/2006/relationships" id="259" r:id="R4d4d314283ad4359"/>
    <p:sldId xmlns:r="http://schemas.openxmlformats.org/officeDocument/2006/relationships" id="260" r:id="Rc74ce8208a94459e"/>
    <p:sldId xmlns:r="http://schemas.openxmlformats.org/officeDocument/2006/relationships" id="261" r:id="Re2a633625cd048c4"/>
    <p:sldId xmlns:r="http://schemas.openxmlformats.org/officeDocument/2006/relationships" id="262" r:id="Rbb3899c3d3c04293"/>
    <p:sldId xmlns:r="http://schemas.openxmlformats.org/officeDocument/2006/relationships" id="263" r:id="R47e3e80cfe874756"/>
    <p:sldId xmlns:r="http://schemas.openxmlformats.org/officeDocument/2006/relationships" id="264" r:id="R434960e5da9a47dc"/>
    <p:sldId xmlns:r="http://schemas.openxmlformats.org/officeDocument/2006/relationships" id="265" r:id="Rb086a0d223554048"/>
    <p:sldId xmlns:r="http://schemas.openxmlformats.org/officeDocument/2006/relationships" id="266" r:id="Rdf5057fba2754ab4"/>
    <p:sldId xmlns:r="http://schemas.openxmlformats.org/officeDocument/2006/relationships" id="267" r:id="R228cd20fc0864f7b"/>
    <p:sldId xmlns:r="http://schemas.openxmlformats.org/officeDocument/2006/relationships" id="268" r:id="Rb558e9a1edae4fa5"/>
    <p:sldId xmlns:r="http://schemas.openxmlformats.org/officeDocument/2006/relationships" id="269" r:id="R5190b9a885f74926"/>
    <p:sldId xmlns:r="http://schemas.openxmlformats.org/officeDocument/2006/relationships" id="270" r:id="R6b43cd77494c45f8"/>
    <p:sldId xmlns:r="http://schemas.openxmlformats.org/officeDocument/2006/relationships" id="271" r:id="R2bfe19bce1a84f39"/>
    <p:sldId xmlns:r="http://schemas.openxmlformats.org/officeDocument/2006/relationships" id="272" r:id="R8fdbf2296097481e"/>
    <p:sldId xmlns:r="http://schemas.openxmlformats.org/officeDocument/2006/relationships" id="273" r:id="Re05326c4c4894932"/>
    <p:sldId xmlns:r="http://schemas.openxmlformats.org/officeDocument/2006/relationships" id="274" r:id="R21b2c2164dca4e93"/>
    <p:sldId xmlns:r="http://schemas.openxmlformats.org/officeDocument/2006/relationships" id="275" r:id="Rd8878e6752a74629"/>
    <p:sldId xmlns:r="http://schemas.openxmlformats.org/officeDocument/2006/relationships" id="276" r:id="Ree7665271ac644ff"/>
    <p:sldId xmlns:r="http://schemas.openxmlformats.org/officeDocument/2006/relationships" id="277" r:id="R1b3e66730a754c08"/>
    <p:sldId xmlns:r="http://schemas.openxmlformats.org/officeDocument/2006/relationships" id="278" r:id="R3bea3bc9953e4664"/>
    <p:sldId xmlns:r="http://schemas.openxmlformats.org/officeDocument/2006/relationships" id="279" r:id="Rf6929143b730436a"/>
    <p:sldId xmlns:r="http://schemas.openxmlformats.org/officeDocument/2006/relationships" id="280" r:id="R07fe00c055d34eb2"/>
    <p:sldId xmlns:r="http://schemas.openxmlformats.org/officeDocument/2006/relationships" id="281" r:id="R57f77de31ee2425b"/>
    <p:sldId xmlns:r="http://schemas.openxmlformats.org/officeDocument/2006/relationships" id="282" r:id="Re785d5f143ae4de8"/>
    <p:sldId xmlns:r="http://schemas.openxmlformats.org/officeDocument/2006/relationships" id="283" r:id="Rcdb11137fd9f40a8"/>
    <p:sldId xmlns:r="http://schemas.openxmlformats.org/officeDocument/2006/relationships" id="284" r:id="R9e11c3a479d74c9b"/>
    <p:sldId xmlns:r="http://schemas.openxmlformats.org/officeDocument/2006/relationships" id="285" r:id="Ra45fda0faee34fd0"/>
    <p:sldId xmlns:r="http://schemas.openxmlformats.org/officeDocument/2006/relationships" id="286" r:id="R53172b341d3f4334"/>
    <p:sldId xmlns:r="http://schemas.openxmlformats.org/officeDocument/2006/relationships" id="287" r:id="Rd0bbf25147d34e0e"/>
    <p:sldId xmlns:r="http://schemas.openxmlformats.org/officeDocument/2006/relationships" id="288" r:id="Rea19e2d823f24cea"/>
    <p:sldId xmlns:r="http://schemas.openxmlformats.org/officeDocument/2006/relationships" id="289" r:id="R24badb1e5d244dcb"/>
    <p:sldId xmlns:r="http://schemas.openxmlformats.org/officeDocument/2006/relationships" id="290" r:id="R138832fbc3e44d04"/>
    <p:sldId xmlns:r="http://schemas.openxmlformats.org/officeDocument/2006/relationships" id="291" r:id="Rfd08852007854745"/>
    <p:sldId xmlns:r="http://schemas.openxmlformats.org/officeDocument/2006/relationships" id="292" r:id="R462c492083594435"/>
    <p:sldId xmlns:r="http://schemas.openxmlformats.org/officeDocument/2006/relationships" id="293" r:id="Rec1cb1315ab043a2"/>
    <p:sldId xmlns:r="http://schemas.openxmlformats.org/officeDocument/2006/relationships" id="294" r:id="R3ed8dbee4f1d4402"/>
    <p:sldId xmlns:r="http://schemas.openxmlformats.org/officeDocument/2006/relationships" id="295" r:id="R66d008a6ba8b4a33"/>
    <p:sldId xmlns:r="http://schemas.openxmlformats.org/officeDocument/2006/relationships" id="296" r:id="R8e2e8c7c32fa49eb"/>
    <p:sldId xmlns:r="http://schemas.openxmlformats.org/officeDocument/2006/relationships" id="297" r:id="Rba9cb5ffff5a4833"/>
    <p:sldId xmlns:r="http://schemas.openxmlformats.org/officeDocument/2006/relationships" id="298" r:id="R3556aa39f03d4e59"/>
    <p:sldId xmlns:r="http://schemas.openxmlformats.org/officeDocument/2006/relationships" id="299" r:id="R85b6f56e535f48e5"/>
    <p:sldId xmlns:r="http://schemas.openxmlformats.org/officeDocument/2006/relationships" id="300" r:id="R105d8b7ae24f4b80"/>
    <p:sldId xmlns:r="http://schemas.openxmlformats.org/officeDocument/2006/relationships" id="301" r:id="R3703327f3c5e43a1"/>
    <p:sldId xmlns:r="http://schemas.openxmlformats.org/officeDocument/2006/relationships" id="302" r:id="R84c1c2df2baf499e"/>
    <p:sldId xmlns:r="http://schemas.openxmlformats.org/officeDocument/2006/relationships" id="303" r:id="R0dae2916775c4e0c"/>
    <p:sldId xmlns:r="http://schemas.openxmlformats.org/officeDocument/2006/relationships" id="304" r:id="R4e5171208b974258"/>
    <p:sldId xmlns:r="http://schemas.openxmlformats.org/officeDocument/2006/relationships" id="305" r:id="R4bf6afd6d3d94050"/>
    <p:sldId xmlns:r="http://schemas.openxmlformats.org/officeDocument/2006/relationships" id="306" r:id="R5a46a69adca74c4b"/>
    <p:sldId xmlns:r="http://schemas.openxmlformats.org/officeDocument/2006/relationships" id="307" r:id="R3975c0f0a29b47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eda974f174b55" /><Relationship Type="http://schemas.openxmlformats.org/officeDocument/2006/relationships/slideMaster" Target="/ppt/slideMasters/slideMaster1.xml" Id="R71c2938703934881" /><Relationship Type="http://schemas.openxmlformats.org/officeDocument/2006/relationships/notesMaster" Target="/ppt/notesMasters/notesMaster1.xml" Id="R550b183bc9364b20" /><Relationship Type="http://schemas.openxmlformats.org/officeDocument/2006/relationships/presProps" Target="/ppt/presProps.xml" Id="R7c7485616b2b4589" /><Relationship Type="http://schemas.openxmlformats.org/officeDocument/2006/relationships/tableStyles" Target="/ppt/tableStyles.xml" Id="Rb44e08ddc2014aad" /><Relationship Type="http://schemas.openxmlformats.org/officeDocument/2006/relationships/slide" Target="/ppt/slides/slide1.xml" Id="R5cd7a00ac6f3447d" /><Relationship Type="http://schemas.openxmlformats.org/officeDocument/2006/relationships/slide" Target="/ppt/slides/slide2.xml" Id="R4502766964934784" /><Relationship Type="http://schemas.openxmlformats.org/officeDocument/2006/relationships/slide" Target="/ppt/slides/slide3.xml" Id="R3ce5a285d220432b" /><Relationship Type="http://schemas.openxmlformats.org/officeDocument/2006/relationships/slide" Target="/ppt/slides/slide4.xml" Id="R4d4d314283ad4359" /><Relationship Type="http://schemas.openxmlformats.org/officeDocument/2006/relationships/slide" Target="/ppt/slides/slide5.xml" Id="Rc74ce8208a94459e" /><Relationship Type="http://schemas.openxmlformats.org/officeDocument/2006/relationships/slide" Target="/ppt/slides/slide6.xml" Id="Re2a633625cd048c4" /><Relationship Type="http://schemas.openxmlformats.org/officeDocument/2006/relationships/slide" Target="/ppt/slides/slide7.xml" Id="Rbb3899c3d3c04293" /><Relationship Type="http://schemas.openxmlformats.org/officeDocument/2006/relationships/slide" Target="/ppt/slides/slide8.xml" Id="R47e3e80cfe874756" /><Relationship Type="http://schemas.openxmlformats.org/officeDocument/2006/relationships/slide" Target="/ppt/slides/slide9.xml" Id="R434960e5da9a47dc" /><Relationship Type="http://schemas.openxmlformats.org/officeDocument/2006/relationships/slide" Target="/ppt/slides/slide10.xml" Id="Rb086a0d223554048" /><Relationship Type="http://schemas.openxmlformats.org/officeDocument/2006/relationships/slide" Target="/ppt/slides/slide11.xml" Id="Rdf5057fba2754ab4" /><Relationship Type="http://schemas.openxmlformats.org/officeDocument/2006/relationships/slide" Target="/ppt/slides/slide12.xml" Id="R228cd20fc0864f7b" /><Relationship Type="http://schemas.openxmlformats.org/officeDocument/2006/relationships/slide" Target="/ppt/slides/slide13.xml" Id="Rb558e9a1edae4fa5" /><Relationship Type="http://schemas.openxmlformats.org/officeDocument/2006/relationships/slide" Target="/ppt/slides/slide14.xml" Id="R5190b9a885f74926" /><Relationship Type="http://schemas.openxmlformats.org/officeDocument/2006/relationships/slide" Target="/ppt/slides/slide15.xml" Id="R6b43cd77494c45f8" /><Relationship Type="http://schemas.openxmlformats.org/officeDocument/2006/relationships/slide" Target="/ppt/slides/slide16.xml" Id="R2bfe19bce1a84f39" /><Relationship Type="http://schemas.openxmlformats.org/officeDocument/2006/relationships/slide" Target="/ppt/slides/slide17.xml" Id="R8fdbf2296097481e" /><Relationship Type="http://schemas.openxmlformats.org/officeDocument/2006/relationships/slide" Target="/ppt/slides/slide18.xml" Id="Re05326c4c4894932" /><Relationship Type="http://schemas.openxmlformats.org/officeDocument/2006/relationships/slide" Target="/ppt/slides/slide19.xml" Id="R21b2c2164dca4e93" /><Relationship Type="http://schemas.openxmlformats.org/officeDocument/2006/relationships/slide" Target="/ppt/slides/slide20.xml" Id="Rd8878e6752a74629" /><Relationship Type="http://schemas.openxmlformats.org/officeDocument/2006/relationships/slide" Target="/ppt/slides/slide21.xml" Id="Ree7665271ac644ff" /><Relationship Type="http://schemas.openxmlformats.org/officeDocument/2006/relationships/slide" Target="/ppt/slides/slide22.xml" Id="R1b3e66730a754c08" /><Relationship Type="http://schemas.openxmlformats.org/officeDocument/2006/relationships/slide" Target="/ppt/slides/slide23.xml" Id="R3bea3bc9953e4664" /><Relationship Type="http://schemas.openxmlformats.org/officeDocument/2006/relationships/slide" Target="/ppt/slides/slide24.xml" Id="Rf6929143b730436a" /><Relationship Type="http://schemas.openxmlformats.org/officeDocument/2006/relationships/slide" Target="/ppt/slides/slide25.xml" Id="R07fe00c055d34eb2" /><Relationship Type="http://schemas.openxmlformats.org/officeDocument/2006/relationships/slide" Target="/ppt/slides/slide26.xml" Id="R57f77de31ee2425b" /><Relationship Type="http://schemas.openxmlformats.org/officeDocument/2006/relationships/slide" Target="/ppt/slides/slide27.xml" Id="Re785d5f143ae4de8" /><Relationship Type="http://schemas.openxmlformats.org/officeDocument/2006/relationships/slide" Target="/ppt/slides/slide28.xml" Id="Rcdb11137fd9f40a8" /><Relationship Type="http://schemas.openxmlformats.org/officeDocument/2006/relationships/slide" Target="/ppt/slides/slide29.xml" Id="R9e11c3a479d74c9b" /><Relationship Type="http://schemas.openxmlformats.org/officeDocument/2006/relationships/slide" Target="/ppt/slides/slide30.xml" Id="Ra45fda0faee34fd0" /><Relationship Type="http://schemas.openxmlformats.org/officeDocument/2006/relationships/slide" Target="/ppt/slides/slide31.xml" Id="R53172b341d3f4334" /><Relationship Type="http://schemas.openxmlformats.org/officeDocument/2006/relationships/slide" Target="/ppt/slides/slide32.xml" Id="Rd0bbf25147d34e0e" /><Relationship Type="http://schemas.openxmlformats.org/officeDocument/2006/relationships/slide" Target="/ppt/slides/slide33.xml" Id="Rea19e2d823f24cea" /><Relationship Type="http://schemas.openxmlformats.org/officeDocument/2006/relationships/slide" Target="/ppt/slides/slide34.xml" Id="R24badb1e5d244dcb" /><Relationship Type="http://schemas.openxmlformats.org/officeDocument/2006/relationships/slide" Target="/ppt/slides/slide35.xml" Id="R138832fbc3e44d04" /><Relationship Type="http://schemas.openxmlformats.org/officeDocument/2006/relationships/slide" Target="/ppt/slides/slide36.xml" Id="Rfd08852007854745" /><Relationship Type="http://schemas.openxmlformats.org/officeDocument/2006/relationships/slide" Target="/ppt/slides/slide37.xml" Id="R462c492083594435" /><Relationship Type="http://schemas.openxmlformats.org/officeDocument/2006/relationships/slide" Target="/ppt/slides/slide38.xml" Id="Rec1cb1315ab043a2" /><Relationship Type="http://schemas.openxmlformats.org/officeDocument/2006/relationships/slide" Target="/ppt/slides/slide39.xml" Id="R3ed8dbee4f1d4402" /><Relationship Type="http://schemas.openxmlformats.org/officeDocument/2006/relationships/slide" Target="/ppt/slides/slide40.xml" Id="R66d008a6ba8b4a33" /><Relationship Type="http://schemas.openxmlformats.org/officeDocument/2006/relationships/slide" Target="/ppt/slides/slide41.xml" Id="R8e2e8c7c32fa49eb" /><Relationship Type="http://schemas.openxmlformats.org/officeDocument/2006/relationships/slide" Target="/ppt/slides/slide42.xml" Id="Rba9cb5ffff5a4833" /><Relationship Type="http://schemas.openxmlformats.org/officeDocument/2006/relationships/slide" Target="/ppt/slides/slide43.xml" Id="R3556aa39f03d4e59" /><Relationship Type="http://schemas.openxmlformats.org/officeDocument/2006/relationships/slide" Target="/ppt/slides/slide44.xml" Id="R85b6f56e535f48e5" /><Relationship Type="http://schemas.openxmlformats.org/officeDocument/2006/relationships/slide" Target="/ppt/slides/slide45.xml" Id="R105d8b7ae24f4b80" /><Relationship Type="http://schemas.openxmlformats.org/officeDocument/2006/relationships/slide" Target="/ppt/slides/slide46.xml" Id="R3703327f3c5e43a1" /><Relationship Type="http://schemas.openxmlformats.org/officeDocument/2006/relationships/slide" Target="/ppt/slides/slide47.xml" Id="R84c1c2df2baf499e" /><Relationship Type="http://schemas.openxmlformats.org/officeDocument/2006/relationships/slide" Target="/ppt/slides/slide48.xml" Id="R0dae2916775c4e0c" /><Relationship Type="http://schemas.openxmlformats.org/officeDocument/2006/relationships/slide" Target="/ppt/slides/slide49.xml" Id="R4e5171208b974258" /><Relationship Type="http://schemas.openxmlformats.org/officeDocument/2006/relationships/slide" Target="/ppt/slides/slide50.xml" Id="R4bf6afd6d3d94050" /><Relationship Type="http://schemas.openxmlformats.org/officeDocument/2006/relationships/slide" Target="/ppt/slides/slide51.xml" Id="R5a46a69adca74c4b" /><Relationship Type="http://schemas.openxmlformats.org/officeDocument/2006/relationships/slide" Target="/ppt/slides/slide52.xml" Id="R3975c0f0a29b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13ea0334e444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739e579d941ad" /><Relationship Type="http://schemas.openxmlformats.org/officeDocument/2006/relationships/notesMaster" Target="/ppt/notesMasters/notesMaster1.xml" Id="Rff70dea511ac40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810d1a1c2e407f" /><Relationship Type="http://schemas.openxmlformats.org/officeDocument/2006/relationships/notesMaster" Target="/ppt/notesMasters/notesMaster1.xml" Id="R4c2fe6e257cc45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b1962521b24812" /><Relationship Type="http://schemas.openxmlformats.org/officeDocument/2006/relationships/notesMaster" Target="/ppt/notesMasters/notesMaster1.xml" Id="R217627d309da43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ef267c5a964ac7" /><Relationship Type="http://schemas.openxmlformats.org/officeDocument/2006/relationships/notesMaster" Target="/ppt/notesMasters/notesMaster1.xml" Id="R8e103aec29584f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96f454f554757" /><Relationship Type="http://schemas.openxmlformats.org/officeDocument/2006/relationships/notesMaster" Target="/ppt/notesMasters/notesMaster1.xml" Id="R8abf9bcb852d46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2ccc8303564073" /><Relationship Type="http://schemas.openxmlformats.org/officeDocument/2006/relationships/notesMaster" Target="/ppt/notesMasters/notesMaster1.xml" Id="Rb415e124f48b4b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c7cece59984955" /><Relationship Type="http://schemas.openxmlformats.org/officeDocument/2006/relationships/notesMaster" Target="/ppt/notesMasters/notesMaster1.xml" Id="R0303f31b7a3d42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654f506e6c4275" /><Relationship Type="http://schemas.openxmlformats.org/officeDocument/2006/relationships/notesMaster" Target="/ppt/notesMasters/notesMaster1.xml" Id="R83274f6b49ae4b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ee85f4e66d45a7" /><Relationship Type="http://schemas.openxmlformats.org/officeDocument/2006/relationships/notesMaster" Target="/ppt/notesMasters/notesMaster1.xml" Id="R64b25a4335b24e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a1e15ad4124791" /><Relationship Type="http://schemas.openxmlformats.org/officeDocument/2006/relationships/notesMaster" Target="/ppt/notesMasters/notesMaster1.xml" Id="R12d11e1ffad04e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37d318ee0b4de4" /><Relationship Type="http://schemas.openxmlformats.org/officeDocument/2006/relationships/notesMaster" Target="/ppt/notesMasters/notesMaster1.xml" Id="Rd7ded168f3b24e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539693ed154427" /><Relationship Type="http://schemas.openxmlformats.org/officeDocument/2006/relationships/notesMaster" Target="/ppt/notesMasters/notesMaster1.xml" Id="R30915ee9237e4c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989744efc44eb3" /><Relationship Type="http://schemas.openxmlformats.org/officeDocument/2006/relationships/notesMaster" Target="/ppt/notesMasters/notesMaster1.xml" Id="R8ba7629b3b6243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eedb144749407d" /><Relationship Type="http://schemas.openxmlformats.org/officeDocument/2006/relationships/notesMaster" Target="/ppt/notesMasters/notesMaster1.xml" Id="R357e4ef6aa494d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ba5aab8d934716" /><Relationship Type="http://schemas.openxmlformats.org/officeDocument/2006/relationships/notesMaster" Target="/ppt/notesMasters/notesMaster1.xml" Id="Raa73f15ab2ed47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2df419060a48ac" /><Relationship Type="http://schemas.openxmlformats.org/officeDocument/2006/relationships/notesMaster" Target="/ppt/notesMasters/notesMaster1.xml" Id="R65c5cc3eecef4c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0ab0f4b1174d4d" /><Relationship Type="http://schemas.openxmlformats.org/officeDocument/2006/relationships/notesMaster" Target="/ppt/notesMasters/notesMaster1.xml" Id="Rec3dd422cea241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b8210dfa964da3" /><Relationship Type="http://schemas.openxmlformats.org/officeDocument/2006/relationships/notesMaster" Target="/ppt/notesMasters/notesMaster1.xml" Id="R349a86ac997f46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a7b228e7fd46b4" /><Relationship Type="http://schemas.openxmlformats.org/officeDocument/2006/relationships/notesMaster" Target="/ppt/notesMasters/notesMaster1.xml" Id="R702709d3dc1e49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76961306394d55" /><Relationship Type="http://schemas.openxmlformats.org/officeDocument/2006/relationships/notesMaster" Target="/ppt/notesMasters/notesMaster1.xml" Id="R2e09e05e84d645a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5f068019e84051" /><Relationship Type="http://schemas.openxmlformats.org/officeDocument/2006/relationships/notesMaster" Target="/ppt/notesMasters/notesMaster1.xml" Id="Rcc7a9bc70a2f48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c8059839964fc8" /><Relationship Type="http://schemas.openxmlformats.org/officeDocument/2006/relationships/notesMaster" Target="/ppt/notesMasters/notesMaster1.xml" Id="Re237dfddb02a4d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418e2fec95483b" /><Relationship Type="http://schemas.openxmlformats.org/officeDocument/2006/relationships/notesMaster" Target="/ppt/notesMasters/notesMaster1.xml" Id="Rc96a4d65d99843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774e7dd3454b1c" /><Relationship Type="http://schemas.openxmlformats.org/officeDocument/2006/relationships/notesMaster" Target="/ppt/notesMasters/notesMaster1.xml" Id="Rdc8e9a4085c44c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416b44e55f34a51" /><Relationship Type="http://schemas.openxmlformats.org/officeDocument/2006/relationships/notesMaster" Target="/ppt/notesMasters/notesMaster1.xml" Id="R5df4764c95dd442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20efe81ae7e48a0" /><Relationship Type="http://schemas.openxmlformats.org/officeDocument/2006/relationships/notesMaster" Target="/ppt/notesMasters/notesMaster1.xml" Id="R71ff38656e364cd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1d94cd578c4c94" /><Relationship Type="http://schemas.openxmlformats.org/officeDocument/2006/relationships/notesMaster" Target="/ppt/notesMasters/notesMaster1.xml" Id="R3cb7214d745748a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a89f1de4504f57" /><Relationship Type="http://schemas.openxmlformats.org/officeDocument/2006/relationships/notesMaster" Target="/ppt/notesMasters/notesMaster1.xml" Id="R33bd73f5d6c647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d91e97ea2e94081" /><Relationship Type="http://schemas.openxmlformats.org/officeDocument/2006/relationships/notesMaster" Target="/ppt/notesMasters/notesMaster1.xml" Id="Rc77bf038a12142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4c0e3576b540ed" /><Relationship Type="http://schemas.openxmlformats.org/officeDocument/2006/relationships/notesMaster" Target="/ppt/notesMasters/notesMaster1.xml" Id="Re345eb57b2234b9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310ceb2a9a8482c" /><Relationship Type="http://schemas.openxmlformats.org/officeDocument/2006/relationships/notesMaster" Target="/ppt/notesMasters/notesMaster1.xml" Id="Rb1d0c3911dcf48d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910bc0d03384ec5" /><Relationship Type="http://schemas.openxmlformats.org/officeDocument/2006/relationships/notesMaster" Target="/ppt/notesMasters/notesMaster1.xml" Id="R2c249197e01d40e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367c8d3cdcb410b" /><Relationship Type="http://schemas.openxmlformats.org/officeDocument/2006/relationships/notesMaster" Target="/ppt/notesMasters/notesMaster1.xml" Id="R5f2cc92de494475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52fbb7e1e5a45a3" /><Relationship Type="http://schemas.openxmlformats.org/officeDocument/2006/relationships/notesMaster" Target="/ppt/notesMasters/notesMaster1.xml" Id="R05f7342f188b4ce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d79e4ff317442ea" /><Relationship Type="http://schemas.openxmlformats.org/officeDocument/2006/relationships/notesMaster" Target="/ppt/notesMasters/notesMaster1.xml" Id="R785db218f5d6488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251047392854384" /><Relationship Type="http://schemas.openxmlformats.org/officeDocument/2006/relationships/notesMaster" Target="/ppt/notesMasters/notesMaster1.xml" Id="Rbe2b5ea920b3444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08b95e12b874f10" /><Relationship Type="http://schemas.openxmlformats.org/officeDocument/2006/relationships/notesMaster" Target="/ppt/notesMasters/notesMaster1.xml" Id="R7f2ffdfe5344477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7fd196a410b4b63" /><Relationship Type="http://schemas.openxmlformats.org/officeDocument/2006/relationships/notesMaster" Target="/ppt/notesMasters/notesMaster1.xml" Id="Rffa69539710340d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0a17237aa7c4430" /><Relationship Type="http://schemas.openxmlformats.org/officeDocument/2006/relationships/notesMaster" Target="/ppt/notesMasters/notesMaster1.xml" Id="R81955e111676457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3ed1dd78c474782" /><Relationship Type="http://schemas.openxmlformats.org/officeDocument/2006/relationships/notesMaster" Target="/ppt/notesMasters/notesMaster1.xml" Id="Re069c7875ef8483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54d1ed61fe9453f" /><Relationship Type="http://schemas.openxmlformats.org/officeDocument/2006/relationships/notesMaster" Target="/ppt/notesMasters/notesMaster1.xml" Id="Re4649b7f13ab42a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dede987b7074943" /><Relationship Type="http://schemas.openxmlformats.org/officeDocument/2006/relationships/notesMaster" Target="/ppt/notesMasters/notesMaster1.xml" Id="R73a13e6154414e3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7648e1de86a4bda" /><Relationship Type="http://schemas.openxmlformats.org/officeDocument/2006/relationships/notesMaster" Target="/ppt/notesMasters/notesMaster1.xml" Id="Re0cfcf5df39b4f1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3bbfb08cdee4a54" /><Relationship Type="http://schemas.openxmlformats.org/officeDocument/2006/relationships/notesMaster" Target="/ppt/notesMasters/notesMaster1.xml" Id="R5c7f1d61e2c74d8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2707296f1bf47d5" /><Relationship Type="http://schemas.openxmlformats.org/officeDocument/2006/relationships/notesMaster" Target="/ppt/notesMasters/notesMaster1.xml" Id="Rddb6fb9b2482433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209751549594c14" /><Relationship Type="http://schemas.openxmlformats.org/officeDocument/2006/relationships/notesMaster" Target="/ppt/notesMasters/notesMaster1.xml" Id="R4ee92a133bee47d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a913ae634514b7b" /><Relationship Type="http://schemas.openxmlformats.org/officeDocument/2006/relationships/notesMaster" Target="/ppt/notesMasters/notesMaster1.xml" Id="R824073e74f334e4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475a001d9ac4cef" /><Relationship Type="http://schemas.openxmlformats.org/officeDocument/2006/relationships/notesMaster" Target="/ppt/notesMasters/notesMaster1.xml" Id="Re445b26d760345e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408a1137cd540ac" /><Relationship Type="http://schemas.openxmlformats.org/officeDocument/2006/relationships/notesMaster" Target="/ppt/notesMasters/notesMaster1.xml" Id="Rf60b19257f5d4d1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739d27180dc4c04" /><Relationship Type="http://schemas.openxmlformats.org/officeDocument/2006/relationships/notesMaster" Target="/ppt/notesMasters/notesMaster1.xml" Id="Reea91f4f328e4f8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875b817481046d0" /><Relationship Type="http://schemas.openxmlformats.org/officeDocument/2006/relationships/notesMaster" Target="/ppt/notesMasters/notesMaster1.xml" Id="Rf0ac6a9c015b410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9e8c96fe83e4e1d" /><Relationship Type="http://schemas.openxmlformats.org/officeDocument/2006/relationships/notesMaster" Target="/ppt/notesMasters/notesMaster1.xml" Id="R32ae526240c3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complete AI-CAD system, not a simple chatbot. The application takes mechanical design requests, generates editable OpenSCAD, validates the result, and supports STL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reduces the effort required to create parametric CAD models. Users describe a desired part and refine dimensions or features through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file has a clear responsibility, making the system easier to understand, maintain, and extend.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backend enriches the request, retrieves domain knowledge, generates code, validates it, and returns structured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relation to the system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app.py is the control center. Every main workflow passes through it, from loading models to returning final CAD code and engineering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API separates the frontend from backend computation. The most important endpoint is /api/chat because it runs the complete AI-CAD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structured request model prevents ambiguous API calls and supports experiments such as RAG ablation.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ModelGateway hides provider differences so app.py can request generation without knowing each API in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backend creates a domain-rich prompt that guides the model toward valid, functional, parametric OpenSCAD.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endpoint combines generative AI with deterministic engineering logic before and after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feedback becomes an input to generation, creating a self-correction loop that improves usability.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is not purely probabilistic; it includes deterministic fallbacks for common or high-value part families.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Accepted history acts as local memory. Approved designs can become examples for future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turns generated code into a practical manufacturing artifact.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relation to the system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Mechanical CAD requires domain-specific details. RAG gives the model local knowledge at generation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rag.py is the knowledge engine, separate from app.py so retrieval can evolve independently.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consistent document model allows text files, JSON databases, and code references to become searchable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Family detection routes the prompt to better references and more relevant validation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is a multi-family mechanical CAD assistant rather than a single-part generator.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Dense embeddings are useful, but TF-IDF ensures the app can still retrieve knowledge if embeddings fail.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Family-aware scoring prevents misleading documents from entering the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Retrieved results are visible to the frontend, making generation more explainable.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relation to the system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OpenSCAD can look correct but still fail. Validation is the quality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module checks syntax-like structure, parametric quality, and mechanical intent.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Universal checks apply to every generated file and catch basic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checks enforce parametric relationships, which are central to OpenSCAD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Mechanical correctness depends on the part type, so validation must be domain-specific.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Hard failures indicate the result is likely unusable and should be repaired or rejected.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Logging creates measurable evidence for success rate, common failures, and repair effectiveness.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relation to the system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is lightweight: the AI-CAD complexity lives in the backend, while the UI stays easy to serve and understand.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index.html provides the containers for every visible part of the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settings sidebar gives users experimental control over generation and retrieval.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chat interface supports iterative mechanical design, and the prompt coach improves input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main.js connects user actions to backend endpoints and updates every panel with the backend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preview gives visual verification of generated geometry.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code panel turns generated output into a reusable engineering artifact.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panels make the system explainable by showing why output is accepted or what risks remain.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CSS provides visual hierarchy for a technically dense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slide in relation to the system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backend/docs acts as the engineering memory loaded by rag.py.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files are machine-readable and allow structured extraction of parameters, constraints, and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Text files express rich engineering explanation and modeling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Trusted libraries can be more reliable than generating specialized geometry from scratch.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 documents become active model guidance through retrieval and prompt injection.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same engineering knowledge used for prompting is reflected in validation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layer has a focused role and communicates through clear interfaces.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is an integrated architecture for AI-assisted parametric CAD, not only a prompt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system value: it bridges natural language and parametric CAD with retrieval, validation, repair, and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b174bbf584d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b1316909d848d5" /><Relationship Type="http://schemas.openxmlformats.org/officeDocument/2006/relationships/slideLayout" Target="/ppt/slideLayouts/slideLayout1.xml" Id="R3da0baca3d244e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a0baca3d244e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1a9bf6a4b447e" /><Relationship Type="http://schemas.openxmlformats.org/officeDocument/2006/relationships/notesSlide" Target="/ppt/notesSlides/notesSlide1.xml" Id="R01e618495ce14b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4c20e53354d80" /><Relationship Type="http://schemas.openxmlformats.org/officeDocument/2006/relationships/notesSlide" Target="/ppt/notesSlides/notesSlide2.xml" Id="Rfd70392538ce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f16e98aca475d" /><Relationship Type="http://schemas.openxmlformats.org/officeDocument/2006/relationships/notesSlide" Target="/ppt/notesSlides/notesSlide3.xml" Id="R3a422a647b1040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41bb8e23845b3" /><Relationship Type="http://schemas.openxmlformats.org/officeDocument/2006/relationships/notesSlide" Target="/ppt/notesSlides/notesSlide4.xml" Id="Recb3894c95b246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db72f155b497b" /><Relationship Type="http://schemas.openxmlformats.org/officeDocument/2006/relationships/notesSlide" Target="/ppt/notesSlides/notesSlide5.xml" Id="Rbf8f3f6b85ce43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aebf5ecd74129" /><Relationship Type="http://schemas.openxmlformats.org/officeDocument/2006/relationships/notesSlide" Target="/ppt/notesSlides/notesSlide6.xml" Id="Rb76dcf7a66c545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2cb7c84484bf4" /><Relationship Type="http://schemas.openxmlformats.org/officeDocument/2006/relationships/notesSlide" Target="/ppt/notesSlides/notesSlide7.xml" Id="R96d8acd19c354b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97c7e70a644ce" /><Relationship Type="http://schemas.openxmlformats.org/officeDocument/2006/relationships/notesSlide" Target="/ppt/notesSlides/notesSlide8.xml" Id="Raa9255fd7e8745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7add0671e424f" /><Relationship Type="http://schemas.openxmlformats.org/officeDocument/2006/relationships/notesSlide" Target="/ppt/notesSlides/notesSlide9.xml" Id="R4c9a42a01fe948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45df3190b466e" /><Relationship Type="http://schemas.openxmlformats.org/officeDocument/2006/relationships/notesSlide" Target="/ppt/notesSlides/notesSlide10.xml" Id="R18919eafdd6947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9292d2077471e" /><Relationship Type="http://schemas.openxmlformats.org/officeDocument/2006/relationships/notesSlide" Target="/ppt/notesSlides/notesSlide11.xml" Id="R870f3dc8306a45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c62ffa3f14986" /><Relationship Type="http://schemas.openxmlformats.org/officeDocument/2006/relationships/notesSlide" Target="/ppt/notesSlides/notesSlide12.xml" Id="R7236edb7178348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03d518ced4fe9" /><Relationship Type="http://schemas.openxmlformats.org/officeDocument/2006/relationships/notesSlide" Target="/ppt/notesSlides/notesSlide13.xml" Id="R0196667350274d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7abe65ef54e3b" /><Relationship Type="http://schemas.openxmlformats.org/officeDocument/2006/relationships/notesSlide" Target="/ppt/notesSlides/notesSlide14.xml" Id="R23f87744821742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2023b8edb4d43" /><Relationship Type="http://schemas.openxmlformats.org/officeDocument/2006/relationships/notesSlide" Target="/ppt/notesSlides/notesSlide15.xml" Id="Rea18ab19a0764c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0642a670f48dd" /><Relationship Type="http://schemas.openxmlformats.org/officeDocument/2006/relationships/notesSlide" Target="/ppt/notesSlides/notesSlide16.xml" Id="R2829f904801b40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44490e97646ca" /><Relationship Type="http://schemas.openxmlformats.org/officeDocument/2006/relationships/notesSlide" Target="/ppt/notesSlides/notesSlide17.xml" Id="R10189c9cf9d247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b0d4e6582476d" /><Relationship Type="http://schemas.openxmlformats.org/officeDocument/2006/relationships/notesSlide" Target="/ppt/notesSlides/notesSlide18.xml" Id="R55d57fa0fecc42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044cd9c904589" /><Relationship Type="http://schemas.openxmlformats.org/officeDocument/2006/relationships/notesSlide" Target="/ppt/notesSlides/notesSlide19.xml" Id="Ra6a014698aeb48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525d361014a81" /><Relationship Type="http://schemas.openxmlformats.org/officeDocument/2006/relationships/notesSlide" Target="/ppt/notesSlides/notesSlide20.xml" Id="Rff51017bfe1b42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6b511a43e40fa" /><Relationship Type="http://schemas.openxmlformats.org/officeDocument/2006/relationships/notesSlide" Target="/ppt/notesSlides/notesSlide21.xml" Id="Rb540fa0c7a7644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2032452214d42" /><Relationship Type="http://schemas.openxmlformats.org/officeDocument/2006/relationships/notesSlide" Target="/ppt/notesSlides/notesSlide22.xml" Id="Re14dd8cf494042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eaa4922614407" /><Relationship Type="http://schemas.openxmlformats.org/officeDocument/2006/relationships/notesSlide" Target="/ppt/notesSlides/notesSlide23.xml" Id="R8c34177038ed4d6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d0862463c4350" /><Relationship Type="http://schemas.openxmlformats.org/officeDocument/2006/relationships/notesSlide" Target="/ppt/notesSlides/notesSlide24.xml" Id="R7bedd1a4b4594f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adae97a864ba3" /><Relationship Type="http://schemas.openxmlformats.org/officeDocument/2006/relationships/notesSlide" Target="/ppt/notesSlides/notesSlide25.xml" Id="R7738ea923b2645e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063c7ac14f3b" /><Relationship Type="http://schemas.openxmlformats.org/officeDocument/2006/relationships/notesSlide" Target="/ppt/notesSlides/notesSlide26.xml" Id="R948b27f1c2f246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d4d4988304113" /><Relationship Type="http://schemas.openxmlformats.org/officeDocument/2006/relationships/notesSlide" Target="/ppt/notesSlides/notesSlide27.xml" Id="R73a1b636cae34b5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c0783abee444c" /><Relationship Type="http://schemas.openxmlformats.org/officeDocument/2006/relationships/notesSlide" Target="/ppt/notesSlides/notesSlide28.xml" Id="R746284551d3b4fa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8d2d10a964a76" /><Relationship Type="http://schemas.openxmlformats.org/officeDocument/2006/relationships/notesSlide" Target="/ppt/notesSlides/notesSlide29.xml" Id="Reff96fac08e945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9a692deed41c1" /><Relationship Type="http://schemas.openxmlformats.org/officeDocument/2006/relationships/notesSlide" Target="/ppt/notesSlides/notesSlide30.xml" Id="Rba24451bd2904fd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dfaa0e9dc404d" /><Relationship Type="http://schemas.openxmlformats.org/officeDocument/2006/relationships/notesSlide" Target="/ppt/notesSlides/notesSlide31.xml" Id="Ra55917618503475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d5ecb93394027" /><Relationship Type="http://schemas.openxmlformats.org/officeDocument/2006/relationships/notesSlide" Target="/ppt/notesSlides/notesSlide32.xml" Id="R02d6861daf64435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5639b4f9e4e6e" /><Relationship Type="http://schemas.openxmlformats.org/officeDocument/2006/relationships/notesSlide" Target="/ppt/notesSlides/notesSlide33.xml" Id="Rfb71d88156c243a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916962c024f6b" /><Relationship Type="http://schemas.openxmlformats.org/officeDocument/2006/relationships/notesSlide" Target="/ppt/notesSlides/notesSlide34.xml" Id="R13acde66ca534ff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6c2588a624864" /><Relationship Type="http://schemas.openxmlformats.org/officeDocument/2006/relationships/notesSlide" Target="/ppt/notesSlides/notesSlide35.xml" Id="Rae172d0d8d9e46e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0b5844c6e4eeb" /><Relationship Type="http://schemas.openxmlformats.org/officeDocument/2006/relationships/notesSlide" Target="/ppt/notesSlides/notesSlide36.xml" Id="R90f38aa3ca66481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b3549d98646f7" /><Relationship Type="http://schemas.openxmlformats.org/officeDocument/2006/relationships/notesSlide" Target="/ppt/notesSlides/notesSlide37.xml" Id="Rf2e999179e984d5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712c603664b77" /><Relationship Type="http://schemas.openxmlformats.org/officeDocument/2006/relationships/notesSlide" Target="/ppt/notesSlides/notesSlide38.xml" Id="R11abe589fcd24ba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7036d38d041ef" /><Relationship Type="http://schemas.openxmlformats.org/officeDocument/2006/relationships/notesSlide" Target="/ppt/notesSlides/notesSlide39.xml" Id="R37b627b3708943a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24abbc5dc4137" /><Relationship Type="http://schemas.openxmlformats.org/officeDocument/2006/relationships/notesSlide" Target="/ppt/notesSlides/notesSlide40.xml" Id="Rd2ddb889a79f4df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ef45f2a834501" /><Relationship Type="http://schemas.openxmlformats.org/officeDocument/2006/relationships/notesSlide" Target="/ppt/notesSlides/notesSlide41.xml" Id="R268b94fbaba9434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95c27af824eb0" /><Relationship Type="http://schemas.openxmlformats.org/officeDocument/2006/relationships/notesSlide" Target="/ppt/notesSlides/notesSlide42.xml" Id="R33a36f7dfca3427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e12710684e59" /><Relationship Type="http://schemas.openxmlformats.org/officeDocument/2006/relationships/notesSlide" Target="/ppt/notesSlides/notesSlide43.xml" Id="R4cdcf11e088141c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1203d7fa64686" /><Relationship Type="http://schemas.openxmlformats.org/officeDocument/2006/relationships/notesSlide" Target="/ppt/notesSlides/notesSlide44.xml" Id="Raf2329e7a8a3446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1e94b6f504b28" /><Relationship Type="http://schemas.openxmlformats.org/officeDocument/2006/relationships/notesSlide" Target="/ppt/notesSlides/notesSlide45.xml" Id="Rbf267da3d00547d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668c47e9e414a" /><Relationship Type="http://schemas.openxmlformats.org/officeDocument/2006/relationships/notesSlide" Target="/ppt/notesSlides/notesSlide46.xml" Id="R1a5bc4d6c8c94a3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0cb66c5d24578" /><Relationship Type="http://schemas.openxmlformats.org/officeDocument/2006/relationships/notesSlide" Target="/ppt/notesSlides/notesSlide47.xml" Id="R3a8d8e71d79d45e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b319c55024868" /><Relationship Type="http://schemas.openxmlformats.org/officeDocument/2006/relationships/notesSlide" Target="/ppt/notesSlides/notesSlide48.xml" Id="Re7ab3e66564a46d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121c516454b0b" /><Relationship Type="http://schemas.openxmlformats.org/officeDocument/2006/relationships/notesSlide" Target="/ppt/notesSlides/notesSlide49.xml" Id="Re4a16229e9bc455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0a6695602450a" /><Relationship Type="http://schemas.openxmlformats.org/officeDocument/2006/relationships/notesSlide" Target="/ppt/notesSlides/notesSlide50.xml" Id="Rebc2b344644a4f2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0619c4d374ed8" /><Relationship Type="http://schemas.openxmlformats.org/officeDocument/2006/relationships/notesSlide" Target="/ppt/notesSlides/notesSlide51.xml" Id="R9af4705f0041405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c6bed3d9d4551" /><Relationship Type="http://schemas.openxmlformats.org/officeDocument/2006/relationships/notesSlide" Target="/ppt/notesSlides/notesSlide52.xml" Id="R385bf1d1164443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677E1-66E9-49FA-BB72-179E1FC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9B6FA-9ACB-4020-9E7E-6D0D7C9A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F2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F2DD"/>
                </a:solidFill>
                <a:latin typeface="Aptos"/>
                <a:ea typeface="Aptos"/>
                <a:cs typeface="Aptos"/>
              </a:rPr>
              <a:t>THESIS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2D7B3-15E9-4C3E-87E3-F6BCBDFB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09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Mechanical OpenSCAD Copilot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1EB92-CD53-441A-9036-A5C92414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4F2"/>
                </a:solidFill>
                <a:latin typeface="Aptos"/>
                <a:ea typeface="Aptos"/>
                <a:cs typeface="Aptos"/>
              </a:rPr>
              <a:t>AI-assisted parametric CAD generation using RAG, validation, and multi-model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9ACBD-9AD5-4383-A6EC-ABA0B687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862F2-B511-46CC-9725-DEE7482B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3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BE4F2"/>
                </a:solidFill>
                <a:latin typeface="Aptos"/>
                <a:ea typeface="Aptos"/>
                <a:cs typeface="Aptos"/>
              </a:rPr>
              <a:t>Thesis backend, frontend, and knowledge-base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59950-30D4-4966-A217-272B53FD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F39F0-2249-49D5-9B6D-AE489FB7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863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BE4F2"/>
                </a:solidFill>
                <a:latin typeface="Aptos"/>
                <a:ea typeface="Aptos"/>
                <a:cs typeface="Aptos"/>
              </a:rPr>
              <a:t>Natural language to validated OpenSCAD and STL export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95FE1-D678-46A2-A63D-551DCB1F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381250" cy="29527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D2C50"/>
          </a:solidFill>
          <a:ln xmlns:a="http://schemas.openxmlformats.org/drawingml/2006/main" w="9525">
            <a:solidFill>
              <a:srgbClr val="4250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2EA2A-A3F6-4229-8F6A-28CD315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57375"/>
            <a:ext cx="1714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52307-B9D5-4E44-802D-3578041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145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A401C-F292-4BC9-AED8-C02AF135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14575"/>
            <a:ext cx="1714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7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64EF5-54FA-4ACA-9636-EAAF93DB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717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92312-9DAD-49EE-ADF0-182C9A03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0001E-FD76-4FC7-A606-BC42D26B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28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OpenSCAD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4C4A0-68CC-43EE-A635-A9C602E1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28975"/>
            <a:ext cx="1714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7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24E3B-2DAF-495D-96A5-6FC07BE5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67BC5-F11A-4E24-A6EC-B754796C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86175"/>
            <a:ext cx="17145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42ACF-F3A0-4288-97DB-4DD7DC1C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43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STL</a:t>
            </a:r>
          </a:p>
        </p:txBody>
      </p:sp>
    </p:spTree>
    <p:extLst>
      <p:ext uri="{BB962C8B-B14F-4D97-AF65-F5344CB8AC3E}">
        <p14:creationId xmlns:p14="http://schemas.microsoft.com/office/powerpoint/2010/main" val="2069517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04FAD7-5049-4DAA-A519-6FD6B9DD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D21BE-14BD-4A1B-9D8F-5599ED00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C9477-FDB5-4C50-BDD3-55BA7D3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40B58-E706-4902-A1A7-1E828E2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System Goal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19F05-9CC8-4241-A099-3D95E854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9F25D-4058-41DC-A2D3-04E334CA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81013-DB8B-4A00-8522-827F7556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38004-AF04-46FB-9A8E-DB1AC951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BD0FA-2580-4EE2-BB8C-7B2E1E1F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A3637-6FB8-4702-9097-1C379CF2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Convert natural-language mechanical requests into validated OpenSCAD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6A111-0CCA-418B-B8BB-D2E8A805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09FB7-78F3-4EAF-B38C-5D60A74B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Support iterative refinement through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6826A-0900-460A-B111-0F5CBDA5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C820E-543D-411E-8FBD-C0CF189B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Return engineering feedback beside the generated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1FC50-336C-48F9-8174-9905E486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A42E7-1ECF-4466-A2C8-84BE2269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Enable export to fabrication-ready STL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A7B3C-5F80-4E7E-895E-6A463C5B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06AA4-E4D4-481B-B282-1D0375BD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48122-5135-4C2A-97AE-611A0132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3056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D885AD-91BB-47A8-8985-86B8EAD2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988DA-F16B-4EF1-BFA2-C1869900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CDA7-28EF-4639-B1DC-EF9AE9F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B7F78-84D7-4085-8965-436C6B8C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Main Backend Modules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7DDCF-5075-471A-AB13-731EEE9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7E85D-6AD1-4EA3-B279-56A7AE2B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3A1B1-35CB-4A22-BD99-4BBD5F5A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73721-9BEC-4ADE-9247-791C1911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03051-9829-4D31-A0AE-BF02550D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AEE25-14DE-478F-BE30-785CA12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app.py: API, orchestration, model calls, repair,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8444E-4119-44E4-9423-C4DED1EB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DAD51-9B94-4D79-A089-7138CCEA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rag.py: mechanical knowledge retrieval and family 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9B7D6-AB74-4571-B845-0F32D042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A1CD2-6851-45BD-B77D-ECF6F1CC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validation_and_logging.py: quality checks, scoring, event 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3070D-3D41-4B9D-8CA2-BA0AFEC4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D626D-F08C-4060-9EF5-1E660699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backend/docs: domain knowledge used by 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6EBDF-B089-4838-8DAD-5AB63699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33536-9226-4BCF-9D16-2E0D9153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32474-7959-4F5D-8DFA-86B50290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0009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183B5-58D5-48D9-80E5-68D6903B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B474B-5937-4389-B529-0BA0B2C5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0D7F2-BE7A-4F93-9B98-CA806806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High-Level Data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21B46-9228-4E4F-AE72-DB709C61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44EC8-F9E5-45EA-9975-EF72AD8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User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80EF8-42D1-4AA9-A924-07CCF7DD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669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7DE60-BB12-4E8A-ADA5-EB027660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025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3035F-C745-4218-8DC9-92A56FF7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7170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FastAPI 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BC88E-DB89-43BE-BB66-E81AFB9D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36D82-3653-40CA-BFC5-647F726D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025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DD861-D14A-4467-A50E-A0288B44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7170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Engineering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AC055-A9A7-4C8E-B20D-0F568410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2669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0E37B-9A94-43A5-AA34-33A9EB2C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0025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65A4E-7677-4CF9-AD15-E8B18939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7170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RAG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3F914-48FE-44B5-AE6C-336488E4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09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5845F-4AE8-4FA1-AD63-8EFE1723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A9976-B02E-4280-ABCF-F5642D57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AI generation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A4F0D-3F3D-4860-A7CD-68D75151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95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FDAA0-055F-4D53-9B38-7638FEE3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42900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5071C-0C35-4A5F-9AAE-F0F36D26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60045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Validation and 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F0AC0-3383-467F-8B59-8E820B75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95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5AA0A-1486-4D08-AE53-2E47975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37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26A4B-A9C6-4087-A5C2-8F0037C0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0045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CAD code + 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FE9081-540F-4E66-9635-F408E0C4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38100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18C32-F27A-42CF-871F-F7EE870F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Core idea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71273-2A3B-4FFD-9A85-D8FC260B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673"/>
                </a:solidFill>
                <a:latin typeface="Aptos"/>
                <a:ea typeface="Aptos"/>
                <a:cs typeface="Aptos"/>
              </a:rPr>
              <a:t>The system surrounds AI generation with engineering context before the model call and quality control after the model call.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806E3-D403-434A-AEF8-D59D2908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B4A2F6-3F26-4C56-9B60-351CEC64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DDABA1-8B9B-4E15-A2BA-A55C47AB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384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9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A9F48E-5AC0-4D46-A613-8A99007F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BCC70-D357-4A1B-A80D-4F41B827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F2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F2DD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52AB7-B5EA-4DAE-9B57-5539276E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Backend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4B222-6C19-436C-B5BE-B20876BC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4F2"/>
                </a:solidFill>
                <a:latin typeface="Aptos"/>
                <a:ea typeface="Aptos"/>
                <a:cs typeface="Aptos"/>
              </a:rPr>
              <a:t>FastAPI orchestration, model access, validation, repair, and export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2AD21-55B9-412B-A0C5-E151F6DB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190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D2C50"/>
          </a:solidFill>
          <a:ln xmlns:a="http://schemas.openxmlformats.org/drawingml/2006/main" w="9525">
            <a:solidFill>
              <a:srgbClr val="425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6A691-241D-4F46-B108-75C7A0BE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364D2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2364D2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4BF94-D69F-4738-A304-B9E64BBB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BE4F2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114634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C61EF-A4C0-4789-BCF9-2637A6B9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7C345-962F-4135-A5F5-C07EB56E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48048-5678-465E-889A-AED3EF53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9A3BE-3EB8-4A8F-A413-4932C2D2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app.py: Main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D4170-C14C-4A9C-A1B6-E8E05474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47FF7-4276-4476-8241-8971FF0D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08F71-1781-423A-BBC1-45C4489F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2320C-5E46-4860-BA95-44196172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9E07B-F49A-48D1-962F-474A5937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AD6D9-6E3A-47F1-99C3-70AB30DD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Creates the FastAPI 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D02D4-5B11-454A-8FDB-C56BD1A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19270-F0C8-42F7-A3E7-CD7BF709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Loads configuration and environment 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B897D-2B52-4827-9D0D-2C880ED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3ECEB-ABD0-4B24-A904-EBA58F95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Connects model providers, RAG, validation, and frontend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968B5-617D-4D97-9F3F-8AC32853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F61D9-9ABF-4982-9FB0-8BB206BC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Coordinates generation, repair, history, authentication, and STL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1FD10-582D-438E-8865-002FEDF0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9ED73-7EB7-4B91-919F-8ADC9387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46A73-F177-4129-B71F-F2C4F654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10241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E5D7E-6534-4644-8756-15B71598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12BE6-77A2-4325-9125-D946E8B4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FE332-1BB5-4457-89D5-A179C095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65AE8-5CA7-45AC-8429-A6ADECD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API Endpoints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992F3-20D6-47F6-8DA9-D9CFED20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FA6BC-F2F8-4E3F-BD2C-82281C81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B1BC7-0F6A-424B-983B-2BAC2F48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79C8F-0E9C-4F5F-8D9C-589C26F2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8D9B2-5718-4473-9D72-0E929E1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4599B-965D-46FB-8C05-91BA8F35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GET /api/status, /api/models, /api/knowledge, /api/part-family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7B9D0-67A0-4D37-A62D-934524CE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5ACE3-6F8C-40BE-A0B4-44F8748D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POST /api/chat for the main generation 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7EA45-A4C7-46B8-A5DB-6115218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D9476-E744-450B-AB3A-8B13D43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POST /api/accept to save successful designs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AB6DD-C719-4B76-B2F8-EF790B78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675B2-FCBC-4CBE-8E30-80B1ECEA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POST /api/export-stl to render OpenSCAD into STL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3AC30-8D6C-450B-9BAB-59E8EFAB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3C6CA-0840-4C74-AD43-BCE6403B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Auth endpoints: register, login, me,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2D521-E75C-48F6-89FD-490088CD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23542-0F9A-4634-AF3E-C641A4CB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38422-F2A5-425C-9AB5-7D15F7C3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8771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3B4694-65AE-4D4E-8AA8-31F302D0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06EDB-B998-4024-8CDD-38BD3D38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115D5-09A8-4D9B-92F1-05A97D8D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A034D-710E-4916-B2A5-513D5002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Chat Request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F3173-1C60-4291-B5F3-A883AB9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01B38-8121-4AAF-B514-F6540367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B6AB9-EC07-4C05-BC7C-823615CB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DBCB6-30A5-46CF-BA92-28BF2A2B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3AF2D-91FC-4660-AADE-A029BB8A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A84D2-F67E-4A4F-B42C-57453431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prompt: user design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F03D1-6082-4883-80AF-AFCFBB49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FF677-B897-48C2-8358-3E3E918B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provider and model: selected AI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6FD72-0FC2-4673-9B61-84E944EE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BB5B9-78AF-4369-845C-A9F6FC42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temperature: generation variability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1C0A3-1E47-45EB-880F-2464524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98BAA-5ABC-4922-A1B5-155CD1B4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top_k and selected_doc_ids: RAG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38C6F-5002-4D8C-B235-67B4EA35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A622F-7373-4277-924A-EC9FA79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disable_rag and allow_fallback: evaluation and robustness 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CE048-D801-4F96-BCCF-BBCBDC24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63ACF-230C-4375-BB65-9A3491BC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history and manufacturing: context for refinement and DFM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DEE48-5CEF-45CD-AD11-31E6F921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AC380-6B72-4137-9598-B20575D2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A5267-C402-43E6-830E-458B5645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60783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8A5A38-E430-42C0-A88A-B0F5D133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6528A-F4A2-4E46-B46D-AA2BFE81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4B90F-4E0C-4347-911B-857C2FD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45489-88B1-4CB5-AD8A-3DDE6F66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Model Gateway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0E062-FBE3-491C-891B-4238056E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D7E7B-18C7-47B6-9884-887264B0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3FAF7-4E6C-4F90-8346-4919806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1E19A-FB44-4CD7-A00E-FB91DAF6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7400E-9025-4524-9C7E-185A6884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71686-FFE7-4308-A074-E4421D79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Supports Ollama, OpenAI, OpenRouter, and Hugging Face 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10D16-D1FF-4FB8-836F-DC2AF55D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3B640-B8E2-4B65-9A26-195E9B3A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Exposes one generate() interface to the rest of the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B5C23-B9F2-4BC0-A68E-E3BFCF66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D5866-B169-4AFF-BD75-33301DFC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Checks provider availability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4C29D-F3F6-4D1F-A53B-E53DE5B5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D792C-3486-4862-81B3-EF5A845E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Applies provider-specific request formats internally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0044F-20B1-4C29-AD1F-F82F8B21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0AD35-8A8C-4851-A326-5E15108D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Enables fallback when a selected provider fails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136C5-76E7-43F1-B25C-79B4B249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92727-E7D9-4CC3-A351-141D01D0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B1F0F-B657-4589-8883-DF134CA2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3761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4669D3-7F53-40DD-A70B-B90BD7F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FD3F8-A692-4CA1-AA63-E1617C8E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6315B-25B5-47B4-9FCD-28C11D61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FBE9A-2284-44DB-9039-B6BD8169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Prompt 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59371-F89E-4CEB-9A3E-A80051BE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2E56-434C-41A7-9D52-E60FCF06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CE875-EF7A-42D4-945C-86BF21B6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2A712-571B-476B-8905-547400F8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C5D21-7D56-45B2-8331-0F8438C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4A96D-07D6-4802-91C7-F2E89CB3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Starts with a strict OpenSCAD system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4E65F-75DC-4616-B7D1-06B64414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7C11F-8D9C-4445-8F06-F8706C71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Adds detected mechanical family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F60FB-ADB2-4BAF-BCF6-1A924D60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65F40-9365-4F4B-999A-813B3DCF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Injects RAG references and accepted-history examples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B140D-01B4-4FB6-85E8-BB5051E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FEF6C-3BCF-4B08-BB67-11A23D90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Adds constraints, physics, manufacturing, and tolerance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938F6-80C4-427D-A722-4F51863A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DE4B6-9DF8-4732-97B2-21EBCED6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Preserves user-stated dimensions and design intent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39B76-D20A-43FD-AD8C-BF4AFB3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04E3A-BF22-434B-9826-1E7CB58A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E1693-68F4-413A-8851-CD5707B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28164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5D300-A384-4A8E-B420-56EB99C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A64F1-E375-4663-8735-B40A26B4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23DBB-4D27-4760-94C8-861796DA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1CC7B-2362-4E6E-99D4-2C2864E3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/api/chat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1B190-6CBF-4463-99C9-3D8282F8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06B2C-FBE2-48B0-977F-7DE734ED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9D058-4763-453B-867B-BE25FF9C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C219B-3B1D-4255-A172-78B305C7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1282A-7E05-440D-BC15-7D458650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402FC-83D3-44D6-9A15-9698647A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Validate prompt and select provider/model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ACB54-8520-4CE3-A0E1-52DA8960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95B00-3A05-4606-BFA3-BDCF9962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Detect part family and build engineering 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0FDD5-EE71-406D-BCDC-2EC2B68B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CE3E5-264A-40A3-A38C-34BE65EC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Analyze intent, constraints, physics, and manufacturing 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386F6-0B6D-4F07-A7A3-46D28F76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C2525-14DC-465A-A252-9268AC8B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Retrieve relevant knowledge from 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5FA23-2924-4085-83AD-AC9CBBAF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B01CB-DF5A-4C84-9B44-306F8103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Generate, extract, validate, repair, and return results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AD20B-0162-4781-BCFB-6B1D4C46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E1D4C-1802-40A8-A636-F2028ED8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3A142-AA98-48F5-A81E-CDEF165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403676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4CA3E8-1EB0-4F1F-8D1E-865ACDFC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7FFB-7D35-4FB5-83B6-3B0A9CD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6E16D-6D48-42EB-B078-91B106C2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97CA0-7203-42C1-9DAA-F2AC15F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Auto-Repair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5E3A2-C39F-4AA6-987C-5A4F17B0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18CE1-EFDC-4E36-8357-B3EA0F09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91B09-C104-4F09-81D9-E23E25D0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E2D50-25B1-4799-A61E-2DF10B2F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5D979-9583-4E28-949A-CD64F4A2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25C63-A9A1-46A3-93CD-0E9CA445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Collect failed validation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F441B-6AD3-4519-95DB-23C0EC18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4ECEB-BD65-4EF7-BFFA-3769DBB4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Build a repair prompt with failed code and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E5188-1B31-443E-99FA-C9AD605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5F085-1A0C-4B5C-B09D-14B40A3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Regenerate corrected OpenSCAD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94738-80B8-4138-995E-020E7D09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5E809-B5AB-493F-AABA-3C6B2096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Revalidate and keep the better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F9051-DB5C-4236-8B65-0DF331A7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06392-29B8-4106-8640-B7CCE565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Limit attempts to avoid endless repair loops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8BD4B-8FA3-450E-A6CF-197C7F46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4615E-C3DE-4F68-A053-37AC1CB1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83524-5A22-4DC0-A08C-F07818A8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39780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4284B8-F8D0-4469-8998-79F0B059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9DD63-2E2F-4A26-AA44-7F2979BC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13782-1D7E-499D-9AAB-384EF72C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55D10-6AE1-4F03-9A43-14362B1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Deterministic Fallbacks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67CD0-A50F-4E77-9470-AD5C761E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99101-8047-439D-BAB9-BCD2D67E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EFFF6-1416-48D3-A34C-B0BF5489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A810F-B402-4D7F-90E9-796B3925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3F99C-8163-44DF-B19A-ACEAAE0E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24A5B-B0B3-4505-AAC6-EDB27FFB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Used when model output is empty or fails hard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1D3C0-7721-48E1-A2DC-B901FE0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36586-0374-4DE5-A2CC-A48A4E2C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Provides rule-based OpenSCAD for selected critical families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A5382-D81B-4FAC-B8AC-0026FBAD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EE01B-075C-495D-AEB5-C0B9A3C8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Examples include bearing housing and L-bracket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1F0FE-3CE8-4F1A-B27D-CE4BF43C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9CE2C-93CB-4705-9252-DE0A24D9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Combines AI flexibility with predictable safety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6CE82-601E-4A8B-AA75-3F40B1E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B2FA7-B468-4151-9B82-5DA3E240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F429-D983-4EEB-AA21-334BB7B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456480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01FCF-7841-4FE3-AD5D-04F3E2C8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4DD39-612F-42F4-9838-71CC4F8E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DAB65-4BE9-4175-8F99-4E41B4C9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4ABD1-11A8-4F1A-8814-24D52897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Accepted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FB5B8-B3FD-4F1D-B96E-E22989C8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078FB-E887-4451-8C77-1C2C851A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22BC6-C5AD-459A-9864-9FD6D353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3162C-BB01-4AB3-AF0E-46ACCFD7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31293-AAA4-422C-AEEC-A5FCB954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EA2C8-EBB9-4B7A-B91D-20192F53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Stores successful user-accepted designs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59286-5794-4000-91BE-B9AA248E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9F69F-2F35-430F-9C30-C9913E5D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Builds summaries with family, modules, parameters, and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89F37-0A4D-4E7C-B288-113A6631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9AC8E-9538-41C6-AE28-367B463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Retrieves similar accepted examples for future prompts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E57AF-6114-44E8-8A79-BE8D28BA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D8BAD-9EC0-4120-B306-BC5D4464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Improves consistency across repeated design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5D330-77D4-4EDB-B7E3-721C8715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EDE10-11E5-4AE8-BF51-FAC9FE57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02740-64A1-46CA-9727-291544E1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299071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DF2A46-7695-4698-A949-18EADC88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3EEC4-6C60-494F-B132-81F8F0B2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5AEEB-640F-47F5-96CF-DAC83B6F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B3A19-5997-4957-857E-14C8090E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STL Export Endpoint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FEAD6-1A5F-42FF-87A3-EC483F30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2CAF8-3C03-4B12-A535-E8C93B6B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64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D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FDA39-0D9A-4296-A53D-678E5BA6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B79E5-74C4-4B39-A1CA-2E80437D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659F2-FCDA-4AAD-9A39-E456FC0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26D2C-4AE5-43D1-97B1-6CA65D20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Receives generated OpenSCAD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C3DDF-6F84-4666-B825-60D99F05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79332-4D59-4F6A-B237-E13A8430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Writes a temporary .scad 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617E5-522A-4D06-BD17-3BC1EDDD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745F6-F642-474B-B522-9BA71794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Calls the local OpenSCAD 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15F04-6B1E-49DE-B84C-3F1378D2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6B1CC-3B4F-4808-BC39-C25F268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Produces an STL mesh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0AAB5-28BC-42B3-B38A-1DDF1E2C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D2"/>
          </a:solidFill>
          <a:ln xmlns:a="http://schemas.openxmlformats.org/drawingml/2006/main" w="0">
            <a:solidFill>
              <a:srgbClr val="2364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EA2F2-87A3-468E-A12F-A3E7FE2F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Returns the file to frontend for preview or download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2D56D-053C-4E52-9349-E9EC1057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99858-82ED-425D-885A-9480F14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CF768-5A55-4FBF-AD9F-67AA805E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995887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9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14C1C-F36D-4CC1-B603-E41F5550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0AC4C-1048-41EB-A16A-31826BD8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F2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F2DD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71D59-82BA-440F-BF12-F6880F48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Retrieval-Augmented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1FE27-E1BB-4460-BAD6-BC728C8E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4F2"/>
                </a:solidFill>
                <a:latin typeface="Aptos"/>
                <a:ea typeface="Aptos"/>
                <a:cs typeface="Aptos"/>
              </a:rPr>
              <a:t>Grounding AI output in mechanical references and structured part databases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A3C93-7999-40DA-B702-7C0C66DA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190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D2C50"/>
          </a:solidFill>
          <a:ln xmlns:a="http://schemas.openxmlformats.org/drawingml/2006/main" w="9525">
            <a:solidFill>
              <a:srgbClr val="425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B9046-EB9A-4B4D-9111-613C0982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0A37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10A37F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57725-2575-42F2-9084-8A83789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BE4F2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5636173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FE6657-26DD-4E6E-8BF2-59077B4E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B45A2-5D11-4226-AC58-5D65A21C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A60D9-5D92-44B9-8639-E7FC18C4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BFAB6-206E-4FC1-A22E-DB617F55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Why RAG Is Needed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3E831-E35D-4CAD-888A-80A41510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80B7B-DE7C-4ED1-8ECB-10D01431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65C40-7517-482D-AD80-FA0EAB75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1F09B-2F1B-4D6D-BD80-92031895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0B351-509D-4E52-A672-3A022F4E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93E25-E8C1-4E5E-AF85-697F298D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LLMs can miss exact mechanical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D0ABA-C5B3-4071-A285-7D52AA0A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B36A5-BEA6-4DA8-8441-84370D3F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LLMs may generate invalid OpenSCAD syntax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7E03B-BF01-4726-8A60-16E08026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E8FDC-0C12-40B0-B9E1-591120EA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Generic output often lacks functional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73747-D120-4853-ADCA-CC35B612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3BBEA-5519-4EF0-B1C8-87DB8840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Project-specific references improve 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E6A6E-8F1E-4F90-9EC4-A72F9865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0434E-AF11-4E10-8BBA-4424A992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RAG reduces hallucination by grounding prompts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DD377-CF8D-4681-8B6D-F3D121EF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A54A9-F61B-4334-8E90-67281FF5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F2ADB-59B4-4462-B9C5-D92A205F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37919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EE23B7-873D-46FB-A97F-DC51417A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AD67D-81CE-43C4-B49D-210EBBA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095FA-AD5E-412A-89BC-CCB83D00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63EAB-7AF5-4C7D-85D1-A7B3A931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rag.py 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50F32-1819-4FA1-BD39-B5596F32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50781-7716-4538-BB2E-DF0A09C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DEB96-2FB0-4AAF-B4AC-246DB754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59000-8EC9-489A-A9EF-0CB45366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69598-BDBB-4C98-8E4C-EBAEE1F7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C64BB-4000-49CB-B8EC-7A250D6F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Loads local knowledge 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B9BE8-6153-470C-B216-3B8F1B78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53D26-5558-4CE8-86D9-8B6B4F18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Detects mechanical part families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A6E8E-89C7-464B-AD31-7EE4D58C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1570E-2049-48AD-92B9-4B90DCA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Builds embedding or TF-IDF indexes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5E008-ECE3-49C4-AF7C-95B1B6C2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CDF2C-13A8-47F3-A3EE-13A2B2D8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Ranks relevant documents for a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BA6B0-D9B2-4238-9DB3-805D1F41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94D64-C514-4AFE-AFCF-78F0B620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Returns context to app.py for prompt injection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F3EDD-3E63-4545-9691-478F8373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9FDC7-F7ED-41E8-BFAD-03BB076C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886D8-ACCD-4F41-92A3-A039194F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1556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6A212D-5691-4926-A883-060356D8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512AB-F984-4AE5-814F-5B2E6D5F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EBED1-F629-45C1-BC7E-22F04428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6C910-F345-44B0-906A-583B0701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RAG Document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11613-647C-492D-833D-A2E69F2D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B1F06-4B17-4BEA-A1F1-54FE859A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0D98D-CBCF-47AC-A1A3-23BA1266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5E201-66DB-4D47-B941-6F9D19DB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EF4F0-F63D-4120-A021-63A52836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D96D3-1539-402A-B1A9-C02A2BB1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id and title identify each knowledge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3BB1B-7859-4C93-92CD-AFDC4AC4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F366D-834E-443C-85E3-A86F74BC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text contains searchable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BAD7E-6872-4912-96A8-F5E4DD32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4AA07-1C33-40DA-90CB-E2108067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source and file_type describe 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80CE3-CC3E-4326-A633-54D0A2CE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59C89-4A80-44FA-A680-6413438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family links the document to a mechanical category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8D87C-667C-4BD8-BE91-AE551272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4A025-649F-4C42-AAA2-EAEE7EE5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record stores structured JSON part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75FC1-4315-453B-886B-23E5A079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5E07B-18B1-4DA4-A00E-B1D4BAAF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thresholds and negative keywords improve 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03012-947D-482C-A005-40F28EDA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DDA62-B408-4A3E-AACE-5B13403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6C679-2425-471A-9D61-BA234AE6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372927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F9463-85A8-491C-816D-E994DB83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4873C-CB0A-464E-8DE0-2779081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0ADA5-B5ED-4E40-82D0-6ACD95BD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9EE7B-18AB-43CE-A300-0F0A6E16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Family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21F20-9FE2-46B5-BE02-61DAB0BE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7517A-E58F-4603-9DB2-97085734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FD7FE-D5C8-4F20-ABCC-694FBE47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6286-4D90-4652-9E58-769274BD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19626-2F33-49CE-99D2-8CBAA58B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B8909-C3F9-4B40-BDE3-3FF37732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Uses keyword tables for mechanical families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EB504-DC8E-4C20-B465-BF041437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97ED9-F2A8-458F-ABD4-5E040609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Maps prompts like pillow block to bearing housing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46995-ADFF-4401-B1B6-9A0518B4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BCC1F-6471-4D1A-983C-98C55862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Maps GT2 pulley to pulley belt drive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B992B-545C-4987-855F-51347D15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06AC6-0722-479C-B008-70EA25E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Maps NEMA bracket to motor mount family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6C3BD-5807-4C2B-8F0B-A2568358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C54A6-661A-45A9-B9BE-707ABF7C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Controls both retrieval and validation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B2495-07FE-4EBA-B81F-5DF507D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B85F1-ACDE-4CD5-B710-7F56FF89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1CE7C-AC05-4470-9FEC-09508BE9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748530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97B20-D003-44C9-9A0E-0A6667C5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31E9B-C502-4577-8845-534A23A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3AEBC-4B64-4A0C-9181-CFE63D01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9AB15-FF2D-4D2D-9EE9-C42CA78F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Supported Mechanical Families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13B9A-AA0A-45CD-BD00-EB48AD79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3674C-693A-4C36-AF08-56DD3F2B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BCB04-80C0-4985-850A-10BF1C53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24E1C-2E46-4772-B2B2-0B0B4C0C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83886-2808-45F9-9E32-CB6AB8EC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59343-E757-4D29-8062-5F4E08F5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Bearing housings, gears, shafts, pulleys, sprockets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A5DD3-BBD8-4C09-888C-7546DFC8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DDEB2-AFDE-429E-AB71-3771A5AF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Brackets, flanges, couplers, trusses, enclosures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4ADDA-7175-43A5-AE4C-58D23897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8867C-47A0-418E-8D77-48142CD7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Lead screw actuators, linear rail carriages, servo mounts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12895-266D-4602-83B5-789E5DFD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01200-8B33-4BB3-8E4C-8029A104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Fasteners, nut traps, clamps, fixtures, hinges, linkages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C5B0A-D469-4555-B076-DADE7E77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8FFA2-91C4-4AB5-B422-7392DF76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Each family has specialized retrieval and validation expectations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1BD9C-CABB-40D2-9828-BD253D15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F27A5-E16F-4060-9C51-94070F4B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CA2DE-8005-4310-ABF2-6E355726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358687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0BE548-9540-43E8-920A-67DE2743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910C0-4195-4AFA-A237-C4DFDBA5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FB1D6-13CB-4B52-BEFA-E93BCE4C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54733-AFAA-4803-8B36-2DE380AB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Hybrid Retrieval Backends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D3D85-DEFE-4542-9954-86FEADFE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A1212-2C3D-47CE-9503-129038B3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36575-DACC-4B53-92BD-9CA56A1A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99910-CC58-43F6-9601-61500A39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F647D-A3DA-4863-9B77-4B060CB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0B975-DAE4-4318-8A1B-8F65D7D7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Sentence-transformer embeddings for semantic similarity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19FD7-8094-4877-AEB3-480AC3C2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96E95-92D3-4FEA-B6DC-EE60874B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Ollama embeddings for local embedding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DF50B-9437-4A27-8276-19B662B8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BF659-FB4A-4507-94F4-7CD60B0A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TF-IDF fallback for keyword-based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8750F-72CB-41A5-8841-5C3D57EC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85575-11BF-4FAB-A33D-0AC11EB9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Cosine similarity for ranking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5A477-1589-4C1A-907B-696D827A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F439F-ED19-4F0F-A005-86D0DA92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Runtime fallback keeps retrieval available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AFC71-88AF-43C2-A07C-62B9122A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6C104-6B04-454D-88FB-95C13F02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1F3D1-5284-448E-AE62-932F518B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155317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A5AD28-8F34-4895-957D-1A1CCB97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D6305-03DD-4BA8-A586-536AF1A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D7E89-4D24-469D-9237-22996FE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910E1-652E-4D51-927F-E734BBC3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Family-Aware Scoring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7C6B6-62C1-48E2-B864-8DF413E2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8C63B-1C8D-486C-ABBA-6F1F0978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D332A-F05C-4906-A9A9-581E0C27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43C05-6325-46C6-8710-B80E4F2E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F7FF3-8AA2-413B-B30E-97940A5A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265DA-85F5-44D6-9460-1BF86ABD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Primary family documents receive a relevance 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1F75B-9013-4067-A322-AB0F6475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ED82F-7BF2-43AE-9712-9A74861D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Unrelated families receive a penalty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57E16-02B4-4B30-9AF0-53BBEBB1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5018F-E12C-4C98-8658-3EDE74D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Negative keywords prevent wrong-family matches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9E1F0-B184-497B-81F5-F4E19344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2EDA9-3506-4C2E-A31B-9C0075F2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Support documents are gated by family relevance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4D8EA-2897-4F82-B279-0CFA9B60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A7CBC-A148-4C43-91E6-8C930A23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Scores are clamped between 0 and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188E1-65DE-4B55-AB2E-29CD4BA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2DCE1-394F-462C-965B-D08FCCBD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917F9-BF5E-4838-82A7-47BD1C3D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181667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02C7A-76D6-44E2-9D01-FE5C8108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AE6AC-6888-4B3B-A219-20E9C73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F4B7A-C551-42B2-9D92-34500671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9E2C7-F022-4475-A76D-EF5DE56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RAG Output to app.py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5269D-2218-43BB-BA02-D32C72C8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57A2D-DDE1-48DB-A6DC-72CC077D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80AC0-7E62-43CB-966C-1BFCE34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9C665-DA30-439B-A420-CED6EDF5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CD097-1494-4DEA-9026-E8A6F802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676C0-FA59-406A-9562-B631DD34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Document title and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7FD8C-A045-4093-B4B9-D42AD137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D931B-2272-4037-809B-549EFF62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Similarity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0131A-402A-4307-B0BB-13017ED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1DA7D-D7D1-4B1B-9B0C-A7B79CE0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Short excerpt for frontend display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390F1-DF14-4DFA-B6AB-8393744A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B1EEB-3642-4EF2-8F52-521EDDB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Full text for prompt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BEC40-3129-497F-A5FD-C28B42F7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D4BBF-9C42-455A-9B92-532C27AD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Retrieved references returned for explainability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F3D2A-3301-4404-974B-057DE111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BBC45-5983-4F11-929F-5506EE90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B11E4-8024-40BE-A017-6499EF9A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670521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9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4E12B-7EAD-447A-8AB0-50367E65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28E46-AFEA-4B8C-A559-507FB059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F2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F2DD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A00CC-365D-4A21-8DC7-356C690A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Validation and Logging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1B85F-42D1-43C5-BCFD-E6344727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4F2"/>
                </a:solidFill>
                <a:latin typeface="Aptos"/>
                <a:ea typeface="Aptos"/>
                <a:cs typeface="Aptos"/>
              </a:rPr>
              <a:t>Turning generated code into checked, scored, traceable CAD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30127-87C2-4F9D-B159-7CBCA400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190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D2C50"/>
          </a:solidFill>
          <a:ln xmlns:a="http://schemas.openxmlformats.org/drawingml/2006/main" w="9525">
            <a:solidFill>
              <a:srgbClr val="425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9136B-1876-47C4-91B2-8C10BBB2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E18438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E18438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BCE26-D851-4CDE-8956-04C8D3A6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BE4F2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14798905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7C7CFA-532A-48BF-99FC-A7A0C92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1DC34-49FA-4572-B9F2-2912A66C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D2796-A993-4601-B007-12E3E31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88166-0DEC-4BFF-A02D-91D5AC7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Why Validation Is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46226-E4EB-45FB-A974-6FA79645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603FE-151C-47A5-A0A3-78E089F8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84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8438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7CECB-33D9-4CBC-9FF7-8A96C376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E8EF1-2A81-4242-BF62-2D87E430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A10D7-3EBA-402C-8A8A-17F5071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89216-2290-4153-86BB-D5FD89F7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AI output can contain markdown or language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559A8-F142-4E08-BFEA-D66DFF6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8EA9B-E7D9-46E3-95BE-A7B91423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Code may have broken braces or parentheses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66994-7552-43BB-8FDC-EEAEC59E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59B78-11E1-461D-B9D2-8ABC7882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Geometry may miss modules, primitives, or parameters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B5FC1-ECC6-4889-BDE1-E032BB5D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7A4ED-665B-4827-840E-1D56AC4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Mechanical parts may be decorative but nonfunctional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9CB48-0E1E-4CC8-A215-00B3A4A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1D94A-8A4F-432C-8989-45D7C8E8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Validation protects the user from unusable CAD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19366-281B-4F81-9491-2A69C1C8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B730B-AFEA-45E0-BD3F-320EED67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EBF77-C47E-4FDC-AE78-D21B9E97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928553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E26830-42F3-439D-9446-14F492EA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A3A2A-1D01-4DD9-91D9-67D441EB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982DD-42A9-49A3-8BD3-D9422C3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5968D-97A1-41FF-818C-401E73CD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validation_and_logging.py 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75095-0706-4219-AD92-FC3C0238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03B79-1A91-4F58-BC8D-FEFE553D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84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8438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DAEF3-1004-4867-9302-52FC93EB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E7731-CE5F-4AA5-B4AE-0DC7D580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43F1D-4E04-47F2-A008-39531F89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ED756-C458-4F72-B9A8-12A41D47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Runs universal OpenSCAD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6C75A-6A7A-4079-BEF9-948D55EA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5F090-B472-4EF4-B5BC-50104207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Runs derived-parameter formula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2A0C0-59E7-42C8-9F05-060E9BE5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39253-6639-4F8F-BCD2-C42EF048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Runs family-specific mechanical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4ABB9-5CFB-4BD3-940D-A7DF89F7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26E39-4247-4C92-9346-B97069B8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Scores validation results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C1E83-AAF9-4247-BF17-8E81869B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6F13B-DD31-4C26-88DB-A66CD4B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Logs structured generation events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55CD1-BEED-4D63-940B-EC3EC7C5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53F91-A587-426F-8582-FF63BC51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D4C76-F5B9-4AB5-B099-900C4C9F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591806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306170-683F-466E-8813-9504622F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64142-7746-406A-BF19-C57C1EE4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1CF16-65E4-49AD-BF77-60A75F3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E45ED-B9FD-482C-97EF-97D07831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Universal Validation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D8884-9E68-42E8-B22C-2C5DA0FC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27C03-A782-4BD1-8BCF-62FFF35F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84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8438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594F3-1C60-4046-8EAF-C43669C4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FF13F-CE8E-4681-A5ED-16087432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4AB2F-E142-4B55-B48D-E423B29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93CA9-FC00-4531-B3B6-44D6DEA7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No markdown fences or stray language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19298-6ADE-4F60-99AF-07F1BE5E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B5F8A-FAF5-43D2-810D-1109F391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Balanced braces and parentheses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16CD3-CF9B-4F2E-912E-5A5BD04F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7F629-4AF0-4EAB-BE2C-0B3A4B3B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Parametric variables are present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9083B-4CC0-411C-A430-43281B32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CB4FF-EFBF-4D69-A77E-C8E34924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3D primitives or trusted library calls exist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6B8AD-C917-4992-9BED-2B363A80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D625D-42FA-49D8-BC3E-08155949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Named module is present and called at the 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8BD4B-85B8-46F5-8435-14AD37D3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1A779-40F9-46F5-8AA1-AF148D1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Cut features use difference() where appropriate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22504-AEA7-4C73-835F-458FCE8F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ED12D-DA7E-4378-B507-E5355251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ABB20-4ABA-47E3-9F15-D927A0BC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661612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5FAB42-5853-4C6B-96BF-2021A2F5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30BF0-FBC7-4B29-BD01-029934EA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CE6EA-22C4-4C21-B532-91275A12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F4A1E-8442-4CD3-92CA-DEA8BFC2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Derived Parameter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2D4C2-8B07-4CC6-B432-C4478B9A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5CA81-AB14-42BC-8475-DD5F71A1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84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8438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C2A35-2AB0-476E-A4DA-D2A2B6AF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99903-EE41-4C3A-82F7-31BD54E5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7F17E-DFDC-41CE-B9CC-D95B3D6F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97F59-CA8C-4D11-8957-9C560057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Gear pitch diameter from module and tooth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22422-3B02-4183-9FAF-C2E30F4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67D0C-7853-434B-AC24-072A14D2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Pulley pitch diameter from teeth, pitch, and 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AFEF7-6DBD-4A95-B983-42D775D1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C00F5-9CB4-4D2E-8D86-0B3374C1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Sprocket pitch diameter from chain pitch formula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B0CA2-88FC-4D62-A4A7-005258C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40A34-DFDB-4A91-8D3A-0B372D6E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Bearing boss diameter from bearing OD and wall thickness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4F390-EB75-4B46-908A-73E46631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FD4C2-3899-40BF-A751-259035CC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Encourages formulas instead of magic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B9B1E-E85C-41D6-ACB8-D1D7DC64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FF5DE-F0C9-4A76-BF51-33115E47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B8001-9BEB-44D6-B6D3-F8104C05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170317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80A1C3-4FAF-491C-A326-A3BC7398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CB80A-59F7-4613-999E-533D8F7F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7183F-A44C-4E66-A23C-835FB9E9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FEE53-7B91-447A-BFFE-5F605390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Family-Specific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459A5-2FEF-47DF-B3E8-925555EC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BF55C-191F-4FDB-85BC-4777EACF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84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8438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B8FE1-FD45-4E08-8080-F22BD8C0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6D1B2-CAC3-4AAF-ABDA-F577BBF8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0A144-9DFD-4A84-8490-4D2191BF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5F92E-C59D-408B-BA07-9CBB62F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Bearing housing: bearing seat, shaft bore, base, mounting holes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FD713-3B00-448B-B859-5B3DC69E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8D641-BA20-4847-A266-30F03BAA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Gear: pitch logic, bore, teeth loop, 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9EB85-24E9-452D-B05E-C051D439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A9267-7DC0-4AF1-861B-EB76EDF8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Shaft coupler: two coaxial bores and clamp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82B1D-5C8C-4E9E-8DBB-E2083037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39E87-3073-48F9-9AA1-335D71D9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Brackets: perpendicular plates and correct hole direction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72962-F77D-43A0-BDCC-64E97D6F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5E485-E41B-4EF8-9507-B91E8BE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Servo, truss, hinge, sprocket, fixture checks are also 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7D8D4-E354-4394-8347-A5FC6D76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A907A-B2CF-43CF-87AD-20A34F7A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DFB57-553F-401B-8698-74E1B600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856126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7DFE12-10C3-4C69-83EE-8CC203C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A5313-71C2-444D-A6DD-9A08F45D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1865C-921B-47E3-9D33-41233486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6D4C2-407E-4B25-8FC8-20E7E6BA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Hard Failure Labels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687C8-3495-482E-8772-3B38E05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41D32-8380-4185-8744-A791A9D9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84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8438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35180-3F4B-4CE5-9AD7-DAF21E00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14A0-CD24-4D5D-9E15-230E5253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A95FD-6DCF-41D1-9428-ECCA6A0C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18566-7B02-4EFC-9366-0949F551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Balanced braces and parentheses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5043A-E7AA-4A37-AFC0-5C00D5C1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F4EB2-A187-4943-A144-F1CD356C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No unfinished assignment at 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CC2F0-07C5-4F04-8B2D-C862442C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E21F9-178F-4664-836A-C53784A8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3D primitives used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E536F-63A0-4913-B6C3-E9F831F5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2F3FE-662F-4EFB-907F-FDC57404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Named module present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0886F-4E3A-43B1-AC95-9F8149DE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FE9B0-32C1-4351-8D4C-904959AA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Parametric variables present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05A4F-B644-4F82-9B4B-F02313AA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D5AB9-5A17-475D-B513-4AEC5609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Hard failures can block the final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6AA6A-6C06-47B4-8EB0-0FBEE151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81457-28DB-4818-AF7A-49CF4519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0227A-FDFA-4564-B7F0-50C2427F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58900674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B0AD2-615A-41DB-AB9C-3073BBE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35B7B-D037-443F-BB83-AA21E861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30380-CC54-456F-BF1C-9877A072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F1B71-B03F-45D7-85AD-F523A36B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Generation Event Logging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EE2C4-F581-4209-9EB5-5EA5A07D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F3483-0435-430A-86B0-C3D1EE3F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84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8438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10E38-4E5C-4DAF-B3C8-CAE6076B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698B7-48BE-4EC6-A3F6-0A9C8ACB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380F2-B9C6-4BC8-9ADD-5F3243F0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BB910-0C45-448A-99F2-16588F4F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Writes JSONL events to logs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F9A2F-566B-4705-A8CC-E2FBA055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0C4D5-4ADC-4465-99EB-32DB9473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Stores timestamp, prompt, family, provider,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4E8AE-DD9B-4E42-BF9D-637E1554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090BF-3060-4EE4-9680-73F7C63A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Tracks passed and failed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DE8B1-AEBA-463B-8FB3-381A6678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13273-5FA8-4573-8D66-1B3E8ADC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Records hard failures and repair usage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E1992-A26E-4EE2-85ED-E0C5CA44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38"/>
          </a:solidFill>
          <a:ln xmlns:a="http://schemas.openxmlformats.org/drawingml/2006/main" w="0">
            <a:solidFill>
              <a:srgbClr val="E184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BA7AF-228D-4A8F-9D3D-B059AC16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Supports later evaluation and debugging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3DA13-DB15-4075-9C4A-1B1A35D4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F47E8-E484-4EA7-B7F5-9FDB34BC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D293F-AC2B-4A3C-BA6E-877D92FD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332148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019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A8225E-9179-4398-99A9-5D8AE9E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BA001-1209-4DE2-BB60-30F03422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F2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F2D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36BD5-AAF8-4A40-8FFB-CC5881D4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Frontend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355D8-27DE-482C-BBD3-70F544A1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4F2"/>
                </a:solidFill>
                <a:latin typeface="Aptos"/>
                <a:ea typeface="Aptos"/>
                <a:cs typeface="Aptos"/>
              </a:rPr>
              <a:t>A static CAD workspace for chat, code, preview, validation, and export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EB143-9FAE-4153-98CF-284CE677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190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D2C50"/>
          </a:solidFill>
          <a:ln xmlns:a="http://schemas.openxmlformats.org/drawingml/2006/main" w="9525">
            <a:solidFill>
              <a:srgbClr val="425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55C38-703E-4927-ADE8-0A63F503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6C47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6C47FF"/>
                </a:solidFill>
                <a:latin typeface="Aptos Display"/>
                <a:ea typeface="Aptos Display"/>
                <a:cs typeface="Aptos Display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07FDC-BE07-4C81-ABF0-1E5F1276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BE4F2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491167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53716-73FB-40A3-B35F-64A1B5E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E76B9-F425-4CB1-A1A6-7C7BE089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78F30-9DBE-43F6-8392-3C5A3D62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955FC-DE8B-462E-B748-04B9C518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Frontend File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115A6-85F3-4C05-83E6-EC13A75D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3DBBC-B2ED-42F3-B9D6-8111A7A7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4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47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F1BA5-43B2-4D4C-B015-62E7F579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DB03E-54CB-4701-B4AA-E3A62CB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18DEE-2D3D-4741-80FF-6603D245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DDB36-C9C0-4C1F-ABF4-D8D84C9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frontend/index.html defines the application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1E053-13C6-426A-9DDB-A6B2739F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8F26A-F84F-49DD-8BB3-CF86631C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frontend/main.js controls behavior and API communication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B4123-13CB-456B-B3A3-1138BE3D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890B9-2FC9-48A9-86B9-58534E7B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frontend/styles.css defines the visual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6E407-16A0-41B4-8AD1-06650F4A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17FBA-B353-413F-9B89-76EC148F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The frontend is served as static files by FastAPI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8F8FA-8F05-4866-939E-20EBA4E6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C4AA2-0478-4397-9819-992A056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No heavy frontend framework is 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942D0-1CF2-4E31-80DF-BAD9737D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4ABA6-BE06-40E0-A99B-E4230A87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A28A1-2E76-4594-A6BD-8A1144B1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6990557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6837A5-399B-44CD-AE12-BB375BE5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B469C-32BF-473F-A401-C862CEB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2D9F7-12CF-4552-9343-8F0B3309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2BFB8-4BE8-415A-80C4-5A72CF92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index.html: Page Layout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32F30-D337-45E1-B109-D6C2DD1F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5E5A9-7E8C-476B-8134-2F06F1E1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4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47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BDBCF-0404-4E70-A3B0-F2E3D011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076FA-0B4E-40D8-94D2-3CA09BF9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E924B-A7B7-4058-B9FD-E02AC3C7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F7790-D59A-4E1A-B0F4-F10BF5BC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Topbar with status, RAG mode, and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A1B25-DEF5-4BE9-8416-DA78C0C1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A593B-A171-4807-AE16-0D14037B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Settings sidebar for models and RAG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C1615-1664-406C-9957-03F0F91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BCB15-14DE-4B35-B5C5-7F74DC6B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Chat workspace for design prompts and refinement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57E6B-FB8D-425A-9231-47D16DC7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9218F-3071-4D54-A166-FADB1F07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STL preview panel and OpenSCAD code panel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15781-91AA-4C3C-9970-25184F7E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78BE1-0F69-4F15-B8E2-A0CF0F73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Bottom analysis cards for engineering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6EFF1-3870-4336-B8DE-E9583F8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853FD-F4BF-415F-8F4F-FA36B757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82B2E-1E1F-49C6-B2E9-F560B564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7355254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FC8BA7-FA9B-4F6C-A58D-AF8B372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E1789-304E-4394-82EA-395555BC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74C99-0D87-4C49-83A3-70823155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E586E-4733-40CF-BFE5-A6C67B23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Settings Sidebar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34524-ADCF-4D92-8354-B241FBF4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DCA76-0697-4D32-A1AF-9F0214B7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4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47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2C5FE-2D6E-495C-8E12-6669D34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1DDBB-DDCD-4F16-AC73-C93B83C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464ED-5469-4564-AFBE-A220C718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08B7A-3D01-4C93-AA40-71EBE4F2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Provider and model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4E63C-E8D8-4A24-80DE-BB7657DF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1928B-9067-4C48-AC61-74A69D2A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Temperature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B2FCE-F2CF-4A11-9505-9FDDCBBF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7959F-D1E8-4025-8534-3089C51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RAG disable toggle for ablation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F2C06-C95B-4673-80ED-EA31AB38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73C99-6DFC-470A-8B76-0D6D48CC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Knowledge record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DB1F0-8A8F-4510-A9D0-379C385D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1BD89-1B8F-4DBA-B1E2-00559F26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Fallback provider 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A5492-4C01-4FBE-B2EA-2A9A72FB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734BB-C404-4B09-8543-1AF0B84B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Quick prompts and recent designs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61AA8-4189-4166-86AB-7ADB8C9D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CDF7E-36B6-4417-953B-4877061E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32444-4479-4B84-8C31-BDEB4EE2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19406990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BFA598-F6D7-479E-AC48-3A7B18E5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983D8-EA78-4FE3-8726-D5718C93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14B2C-CDB7-4866-A6C3-55423D2B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D75A0-1958-4CE7-8833-E5306E0F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Chat and Prompt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50C44-E8FA-49DE-9FB7-AC64494C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1BB20-1E26-43FA-BA82-B7E6E91C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4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47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09894-9534-44B7-A147-4051202C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2D95F-522B-4214-98BF-413CC354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8D0CA-3DD1-4569-ADED-4A5889CB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EF189-292E-4317-90FE-B4043E58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User enters natural-language mechanical 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CA02A-3DEB-4DD5-8E16-A8DA506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21C84-6340-4F64-A0BE-2BC70B15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Conversation history supports iterative refinement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03A21-5A57-42CA-8D9F-83D28A2B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FBD3A-EDD8-421E-8FBD-BD38AF69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Prompt readiness score encourages better design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009E3-72BE-4E1D-BE2E-9B216B65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7BF1B-AC05-4D72-B8B4-5CE69669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Tool chips add material, BOM, standards, or editable-parameter requests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2CB2A-EE9B-4780-ADE9-A22D2105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A9BE5-DC84-47F5-9C0C-7CCB8D94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Recent prompts are stored locally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0F3F7-FC14-4A7B-A0F0-138F0EF0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85C1C-594D-4DC0-A397-58937589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8AF2E-C47E-41B9-A592-8CAC98AE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0707634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F8DB1-1D40-4233-8F2F-D6F33EC2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1668B-3766-4DF7-B845-433F652D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B9A8F-E1D9-49F4-934C-A480F159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E479E-99B5-4B81-86EF-7CE25F5A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main.js: Interaction Controller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9ACF5-5130-4508-A309-FFD973A1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63139-9905-41CE-98C2-B7BC2AAF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4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47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E092E-C394-41B7-A0AE-4B0E158B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57100-9437-4771-8A00-B5B9B48D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065CE-F611-452F-8BF9-7FC97F9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AE119-ACF1-4B00-95B3-B86D254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Loads backend status, model list, and knowledge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EE6F9-B63D-4040-A79E-E3349D6F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42C3D-0798-49C5-B2C1-326507FB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Builds the /api/chat request payload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C12B2-4147-4FB7-8A92-954ACCB6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DACF2-721A-44B9-B040-422E4089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Updates chat, code, references, materials, and validation panels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BE319-3515-4C85-AFCE-FEB601AD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87E31-3FB8-4F8B-AD82-6CB6AF1C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Manages accept, copy, download, export, and reset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3FC4E-7D8B-49AB-99C3-7B173161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74EAE-1B36-4281-AFA0-FABA82F9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Keeps frontend state synchronized across panels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23274-7DC9-4119-9C44-312909E2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E0324-CA1A-4EDD-8741-C4B27894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EEBEA-1270-4A5F-82D7-F8C90499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626943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4DEBE9-E71E-4001-9B09-819AAF30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363EC-FFAA-4649-9A6B-9B2544F9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0B9D4-6647-4F83-AA2A-9A6196E8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68D32-EC7C-42C5-8EFC-1BCF4266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STL Preview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C856F-A329-4EE3-BF8E-30E18E86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6DD84-72FB-4DC7-9789-3B18206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4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47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6C911-EFE1-4C78-BF65-FAD9849F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962A7-AB69-4EBD-8B89-D068DE17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5C318-8B1D-4E1E-81EB-B4A5BE65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A1346-0BE9-4204-8BA5-64BB8032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Uses Three.js for 3D rendering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9F839-CF68-4E93-8C21-7A16D692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72145-0F0A-4DD0-9126-63BD4E1D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Uses STLLoader to parse backend-generated STL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62081-48C6-4ECA-80B1-CE5F52F8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05357-F9D6-4972-84FC-8CE388FC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Uses OrbitControls for interactive inspection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96000-2A26-4F24-A8E9-F44993B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525E0-B804-42A4-8954-E6C503E5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Calls /api/export-stl to convert OpenSCAD into mesh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3218-3B79-44E0-AEE5-9EEA0BC8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40844-C78F-4D62-B4A3-A409926C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Displays live preview status and error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48230-3BB8-45FB-A189-C5C4D81F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D2318-1B8B-4F4F-A643-BB4FB250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EFFE-A854-4EAF-801E-AF7721E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06886830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F4C3E-746E-46F3-815A-518090CF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BF260-34D4-4003-8C34-0E4A9A63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839A3-EE46-46EC-8AB9-1CF6D4BA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D7018-B96F-4020-9AEC-DCBE16F0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Code Output and Export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9133C-2E2D-42F6-94CA-EBA87CB2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6433E-CCCA-4C1F-B46F-C9898826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4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47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BA882-64AE-4889-B09A-5504C19A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09660-A416-4170-896B-A03FB65A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B4F4A-66FD-4FD1-93D2-C2314D42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94F7C-0624-4601-9B01-5E83914C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Displays generated OpenSCAD in a dedicated code 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26D38-2D7A-4CAE-A3EC-B32FDACB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44C19-F226-4EE7-B8A1-F781434C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Shows filename and line 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B736E-136A-4C0E-AF0E-02838772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2D136-E21B-45E3-B871-FB7846EB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Allows copy and .scad download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64431-0AE3-44AE-AD21-C69A4F28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0C8B1-533A-4D7A-81F0-EDE8E3BA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Accepts successful designs into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1282C-F919-4398-84BD-1E59762D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80796-C2AE-4992-8EB0-2D31F566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Exports STL for manufacturing workflows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A51B4-4452-4C15-A98C-D1128884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83888-871B-4A6B-9184-7D19D1C6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687F4-E7F9-473F-8638-B057A90E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81542235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5EA3F1-948A-4CAA-9395-6BCDAA4C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A7F18-6B2A-4DEC-BCC7-685F8BCB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5BB96-F21D-46B6-8856-284BEEBB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ED9C6-B015-4D0C-8D00-287D4ACB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Engineering Feedback Panels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BBBA5-1487-4698-AE80-5F7514C8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EB45A-3D9A-4114-87A9-2DD4922A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4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47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2FCC1-12B9-40E8-A670-B64EE08C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12573-6A08-402C-9BC5-0916212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A6129-2E77-43BA-9F38-097F35B4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067EC-93D1-4861-99FF-CA7239F0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Mechanical intent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B7710-A16E-43C0-8CF6-76EF3D4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8132A-1CAA-4D8E-8C84-B91DC34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Constraint check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EE1F2-27FA-4D7E-BB05-3B8716EB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AB054-D02F-4D40-8602-0CC64A06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Physics and calculations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5A1D4-3198-46AE-A3B1-9F672779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50AEB-0438-4E3A-BDC9-C0DC10E0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Manufacturing and tolerance guidance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B9BD1-9989-476E-BA6B-00315D31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B681A-0BAD-4D55-87FB-08633F4A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Mechanical quality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5DB47-48D7-4E77-B0C2-35A3D550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AE557-51AE-4B9D-9325-AFD95AA8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Validation, RAG references, materials, and generation 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971DE-D9A0-4A9E-A4DF-A4CE2768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1A265-0984-40AE-A842-F82DEE3D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A4A88-98FC-4337-A09C-D639244C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24443878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F6941-E80E-416E-A1B9-4C16F4F6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406D6-2611-444C-AF3B-34491E4D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AF333-E43B-4940-967D-3D47838D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AA92D-30BD-402C-B741-630BF82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styles.css: Visual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1EE10-9FDE-4138-AE34-D31A7055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06FF4-BC74-4B65-8117-A72426F9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4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47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6912F-C396-4EB8-8392-696E5DFA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0C238-2AF7-4556-AB9E-EEB4FF5A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2CC7D-21B5-496A-968E-A1B0E20E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70D76-AD9A-4399-8219-E5F5C654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Defines colors, typography, spacing, and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6526C-E2FE-4187-B0FE-054B84CC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7A70B-AE21-4AB2-8D18-F8CAB052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Creates sticky topbar, hero area, sidebar, cards, and panels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F8711-346E-42B8-A6E2-31F4788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03075-7A4A-4EAA-855C-217E1AD8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Styles status indicators and validation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4B86D-4287-4F3B-A9F0-B7DE1C3A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6DDF0-ABF5-4B02-AED6-028277E1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Supports responsive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AD6A5-68DE-4E6F-BDA9-5BAADE4F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7FF"/>
          </a:solidFill>
          <a:ln xmlns:a="http://schemas.openxmlformats.org/drawingml/2006/main" w="0">
            <a:solidFill>
              <a:srgbClr val="6C4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4201D-EACF-411B-B530-26D288FA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Keeps the CAD workspace readable despite dense information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C1C0F-9711-462C-807B-873B26CB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C4985-615D-43E9-A419-F14FA48B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26DBF-5278-4753-B8A5-03B054B2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2254326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019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D56B27-2EC1-4305-83DB-9E255384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6DA0D-8130-42E5-BAA4-25B9A10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F2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F2DD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F89C5-F3DC-4D36-BB02-EC62E175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Docs and Knowledge 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1AB8C-CE22-4C39-9199-838ADEB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4F2"/>
                </a:solidFill>
                <a:latin typeface="Aptos"/>
                <a:ea typeface="Aptos"/>
                <a:cs typeface="Aptos"/>
              </a:rPr>
              <a:t>Structured mechanical memory for RAG and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80CCD-0F79-40D1-962F-EC0CD1C0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190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D2C50"/>
          </a:solidFill>
          <a:ln xmlns:a="http://schemas.openxmlformats.org/drawingml/2006/main" w="9525">
            <a:solidFill>
              <a:srgbClr val="425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03121-C34E-4083-B172-0045A9B2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C9B58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2C9B58"/>
                </a:solidFill>
                <a:latin typeface="Aptos Display"/>
                <a:ea typeface="Aptos Display"/>
                <a:cs typeface="Aptos Display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B01ED-9B56-43B3-AB6D-20B388C6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BE4F2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0156268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8D95DE-1570-4E7C-B985-D6E3EAD3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E2ED2-4503-40E4-AEBC-986E3D0B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5A6D1-3B28-4311-BF1E-8ACA4123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BA220-E629-4A71-BA44-B6BD81A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Docs Folder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6785B-BBC6-4CA4-8A33-0D0F30F4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016D9-F505-4EF5-AA63-A036414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9B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9B5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FB0EA-8B1A-4861-BE43-4859F17F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897CF-0B6D-46B7-86E2-1D61D732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590E6-8714-4B11-9C49-71EE296C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296C5-4436-466E-B8BA-2282C0FD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Active knowledge base is stored in backend/docs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4D298-32EC-4F65-A941-654F4013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BB3EF-1BA5-4F53-8EE3-DAFAB4C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Current content includes .txt, .json, and .scad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6546F-1845-48DC-A48D-FD15D382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D8F2C-E37D-473E-878D-4717C41F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.txt files are rulebooks and examples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07B8E-601B-4B04-BA1E-47E77D2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EA2DC-4B1F-45C0-B2D8-F2435A4E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.json files are structured mechanical part databases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1DE69-E5D3-43CB-86A6-1BE3BE24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F44E2-3D69-43E4-BB46-8EECA501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.scad files are reusable OpenSCAD libraries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D1CFC-7B1B-4846-B15B-C2B40439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769BF-EBED-414E-88F5-74AA102E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35F68-233F-4E6E-83FF-72F07AE7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95629010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8EF4CF-EEEE-48C4-A715-EBBD2919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82C70-C621-474D-BABE-98FB01B9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188FB-A04A-45E6-9A5D-6930050D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9476A-8E1A-4533-AF41-A0C53A02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JSON Knowledge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E0F07-B6BC-4C24-BE79-72D35625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530D4-B942-429C-9061-7BFAC4D1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9B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9B5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46B6D-5C96-4530-BA8C-3639A06A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ED100-6746-4D13-8E4D-EBE38706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09DC1-EEFA-44A9-8429-C037CE15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3EDFC-61C6-4875-8D73-0A3854CF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Contain metadata, family label, units, and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F9928-FED7-43FE-A482-A30E00BE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E8671-BD5C-4738-A370-A72FE82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Define material suggestions and output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140B0-3FBE-430F-A6E2-9EED5CAF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DDD31-1B5B-4DBC-BB7A-4B483C0E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Organize main, derived, and secondary parameters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FDE05-85A7-440E-A1BE-9DBCF7E3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A8101-8817-42FB-A42D-BB114077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Store standard dimensions and mechanical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D3346-44E4-498B-BF08-2271739B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A2194-0664-45F3-8710-69409B4D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Provide validation criteria and example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B991E-4EE9-442E-9BF3-4C28ADE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E70E1-F711-4194-B758-DBE30B24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C43BA-E765-4E6B-A6A7-ECDA1C06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67476787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85E588-A95C-46BC-A5FA-0B451C6A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40F3B-0A64-496A-B570-77407E16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068CE-DD83-4BB9-8285-ED36164F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34EDA-DE32-4FFC-A01D-7CC78075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TXT Reference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E921E-EBF1-42A0-8B8F-16E3BFDE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F2007-9D46-4448-80E7-553CA428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9B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9B5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516B7-928A-4BE8-A1CD-C0C8FC65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190D0-419D-4009-BD3B-F2CA5B16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188D5-3E11-4523-8204-F5E7BD3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9649D-7050-4A2E-BA84-1DD3719B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Describe mechanical family rules in human-readable 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013C0-1C8A-449F-B337-370380CD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3C7CD-CD99-4BFB-8D3B-FC066118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Contain standard dimensions and key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2993D-1315-4CBF-9611-5B7730DB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D84EC-B321-43BD-838E-1B9EF1C1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Include OpenSCAD modeling patterns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61166-12B9-4E6D-8837-4874B9E5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47EC4-CC36-4385-9F55-E2D4187E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List common failure modes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AAC76-D781-4E55-8F09-20F5B3D7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B14D2-C136-42B2-9B41-4B3D7F86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Provide examples for prompt grounding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C7711-2CF7-4D27-8396-DEDDBC6B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E8521-A865-45F1-A47F-3A588090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3F2F4-8BEB-4F10-A10D-3F34DD3A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69880701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A2F711-DE2F-41A4-B88E-EA4DAF10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4D476-ADD7-4A8E-B35A-740109F8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6CEA9-0169-4B5E-9761-1A82AEF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B54D8-4DDC-4742-9AD8-B92E8D5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SCAD Library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DEB48-9BD3-411B-927C-0202003A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7A711-447B-4F29-B04E-9E17E3EC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9B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9B5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072BB-C724-4D50-9C3B-EDC7756B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69FB6-F0AC-45CE-8741-92931198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6FA69-4658-422C-B555-AE5F0672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A81B2-68FF-4980-A1EA-0A3BC508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Example: backend/docs/sprocket.scad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640BD-5D9E-4A13-AC5D-04BB0236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6E141-8B94-4C2C-8681-A381B119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Reusable OpenSCAD modules can be called directly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2D5E8-B6E2-404A-8598-B4EBF1A5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FC3AA-F797-4B15-8229-B36912A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Reduces the need to reinvent complex geometry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E739F-0032-4015-BE1D-763C2F9A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A002E-9919-48A9-B038-BECAD46A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Improves accuracy for specialized mechanical parts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8CB51-23DE-4AD8-A976-93DC5BB9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B8210-73EE-4E1A-BDE8-17473093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Works with RAG instructions and prompt policies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EBBE2-C396-4436-ACFC-9F934E3F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182AA-7269-428E-A406-3FCC5FC8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B4DE0-649B-493C-B49F-9EF619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58025798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14A81-9F5B-4A25-834C-DC5F95E0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71FC8-0A12-4786-8F9B-A81CF8A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1DA68-B794-495B-A88C-BDDB67B4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7DBE8-5E03-4AD1-9F43-8E03F6A1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Docs to Prompt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138F6-99F8-4064-A3D0-B8187463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90029-CAD3-447A-AB6C-606E20A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9B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9B5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4F3E6-85D5-4B5A-8842-AA7F9562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31969-2EFD-4F53-AA1C-64D1D9A1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45C0D-C42D-4384-8F99-26E0E670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52BA0-8960-4504-9EEE-852E027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rag.py loads documents from backend/docs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18553-D76D-4964-A4C4-C50D5EA4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7E90F-CA19-49E8-B19A-1BCAD987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Documents become searchable RAG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D8883-E779-4F47-9265-28EC3732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10286-73ED-477B-866E-F00ABEC2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Prompt is classified into a mechanical family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006A2-F8A5-4FEE-90EE-486DC766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12E71-0D89-40F8-960A-E7E2A3A2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Relevant records are retrieved and ranked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B0C86-1A08-4C83-8342-BBB005B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9E592-F236-4DD3-8FD7-7F60D699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app.py injects selected context into the model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CEB9D-C103-4907-8F46-4CBCF16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35224-8DEC-4E00-B3AD-FA351C7A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46446-E0CD-49AF-85A8-8EF73F98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75350879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C9859-58EA-44F2-AE0D-9FD265A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AF761-40AD-4ACE-8788-176D5A00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0C946-4A3D-469B-B2AA-BA5AF590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40A48-FE51-4AB5-9DE8-ABD19BA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Docs and Validation Relationship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72CAF-548C-4350-BC4C-F72C8662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7EEB4-F3C6-448F-B6EE-01B921E6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9B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9B5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9938C-430F-49AA-AAE2-81BAC089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F448B-922A-4B31-A357-03BEFA04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AFEB8-5A74-422F-BF89-648FAE42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9A611-68C2-469A-B672-8AA98936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Docs define required features and design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4BCFA-CD80-4B55-BA41-52DAF5A7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DEF20-63F6-463B-9062-D079FE3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Validation checks reflect those expectations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8201F-36FD-40F7-816B-5B7B0DDA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2C836-F72E-44F2-B703-4F71EBA7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Derived formulas become formula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74F07-5D01-4B21-9E9B-E067F76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8508E-E5D0-46A6-9269-62BF8E1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Failure modes become warning or error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130BA-04EA-461A-85FA-D7FD36BF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9B58"/>
          </a:solidFill>
          <a:ln xmlns:a="http://schemas.openxmlformats.org/drawingml/2006/main" w="0">
            <a:solidFill>
              <a:srgbClr val="2C9B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BCE75-5DA7-4C39-8731-C02D80C8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Knowledge, generation, and validation form a closed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86AA4-B859-47F7-9589-8EB5403C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20031-DE4E-463A-8577-243C763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6C19E-4FAA-4DCD-877D-343A0777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83751642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23170-9381-4349-AD29-2640AAA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3B2F"/>
          </a:solidFill>
          <a:ln xmlns:a="http://schemas.openxmlformats.org/drawingml/2006/main" w="0">
            <a:solidFill>
              <a:srgbClr val="C73B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3EEDA-F322-4365-A261-99F3D1A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BA81B-01FF-418B-AFB7-45D6784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Complete System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1C914-9E5F-4967-8B83-A3D4C174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B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1B7E7-B780-453A-8D08-D31D8D3E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Frontend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7C597-037A-4D24-A491-7115DFD1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669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3B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3B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6A63A-35CD-46DA-BB01-E55FF13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025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B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352E5-C3A9-430C-B986-A23066C5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7170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app.py API orchestration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4F29B-A759-45F8-890E-BC2F95CE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3B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3B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9CBA2-43F7-498B-A5C7-DD13A56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025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B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85ECD-2CA2-4610-B1BA-B74655E1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7170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rag.py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EFA41-EA3C-43BC-944A-B413DBCA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2669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3B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3B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3B006-69E4-4024-B0A1-E8CFB171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0025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C1340-F7CA-4DCE-8E87-91097B9C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7170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backend/docs knowledge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360B7-E22E-4FE5-AE91-61B4305E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09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3B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3B2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C2DB3-49B6-4CA7-9FD5-36D65817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B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B9926-4C26-4607-B56F-234EB4AF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AI model generation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03B2E-E26A-4C7D-BD4F-639545F6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95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3B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3B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4694E-782C-4ABE-B5AC-B5874882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42900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B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34A15-DA74-42C5-A635-6EF47D83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60045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validation/logging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A1BDC-4C26-4A71-8A18-FA3529CC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95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3B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3B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3B5CD-2AE6-47F6-936F-626EA73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B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43A83A-DA9E-4FA0-AB28-B7BA8647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00450"/>
            <a:ext cx="1152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STL preview/export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32F70-37B4-4DF6-8C02-12D78ED8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38100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ECAFF6-3F30-4949-AFC9-F3D58AE9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Core idea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24991-D15D-45EE-AA7C-ED488F6B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673"/>
                </a:solidFill>
                <a:latin typeface="Aptos"/>
                <a:ea typeface="Aptos"/>
                <a:cs typeface="Aptos"/>
              </a:rPr>
              <a:t>The system surrounds AI generation with engineering context before the model call and quality control after the model call.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EB5F9A-9674-489D-A5D6-0D3D26C1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28EE41-9E46-440A-865F-F345D368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C8F2C2-455C-405D-A262-6C261A02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36069928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73EC99-5C21-42BC-84B7-6A8D46BB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F"/>
          </a:solidFill>
          <a:ln xmlns:a="http://schemas.openxmlformats.org/drawingml/2006/main" w="0">
            <a:solidFill>
              <a:srgbClr val="1019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A9F17-A622-46E0-AA13-FB244200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192F"/>
          </a:solidFill>
          <a:ln xmlns:a="http://schemas.openxmlformats.org/drawingml/2006/main" w="0">
            <a:solidFill>
              <a:srgbClr val="1019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9F1F6-0151-4B21-925D-41B20E01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BE7C7-BD18-4F23-8935-D53C87E7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2F"/>
                </a:solidFill>
                <a:latin typeface="Aptos Display"/>
                <a:ea typeface="Aptos Display"/>
                <a:cs typeface="Aptos Display"/>
              </a:rPr>
              <a:t>Main Thesis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D9ACD-60E5-4624-A8F4-195346FE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CE12C-EAC3-4E0C-A2A3-7C6AFBE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23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2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8ABE4-F737-4F00-8BDF-67488E7C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92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0192F"/>
                </a:solidFill>
                <a:latin typeface="Consolas"/>
                <a:ea typeface="Consolas"/>
                <a:cs typeface="Consolas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22C91-DAF6-4698-A350-3DAF609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62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FDEA0-165C-4804-9492-FF7D5687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92F"/>
          </a:solidFill>
          <a:ln xmlns:a="http://schemas.openxmlformats.org/drawingml/2006/main" w="0">
            <a:solidFill>
              <a:srgbClr val="1019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62FE4-3E18-46A1-A6B1-A9CF024C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Practical natural-language to OpenSCAD generation 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90D55-DE53-48AA-9732-3D3BF496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92F"/>
          </a:solidFill>
          <a:ln xmlns:a="http://schemas.openxmlformats.org/drawingml/2006/main" w="0">
            <a:solidFill>
              <a:srgbClr val="1019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E3C05-644D-4FC6-A4A5-12F274C2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Multi-family mechanical RAG knowledge 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B28A6-9673-49FE-864A-126C45D9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92F"/>
          </a:solidFill>
          <a:ln xmlns:a="http://schemas.openxmlformats.org/drawingml/2006/main" w="0">
            <a:solidFill>
              <a:srgbClr val="1019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4192B-68BB-4E4C-B020-60CDFEAD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Domain-specific validation and scoring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AF8ED-5D80-42C5-854D-3BD6503B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92F"/>
          </a:solidFill>
          <a:ln xmlns:a="http://schemas.openxmlformats.org/drawingml/2006/main" w="0">
            <a:solidFill>
              <a:srgbClr val="1019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89B0F-F1B8-4AAB-B35B-DDC4CD33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Multi-provider model gateway with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859BE-B127-4DAD-862B-E0E3C708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92F"/>
          </a:solidFill>
          <a:ln xmlns:a="http://schemas.openxmlformats.org/drawingml/2006/main" w="0">
            <a:solidFill>
              <a:srgbClr val="1019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33CA0-AAED-4674-A705-EB2CA012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Repair loop and deterministic safety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805D2-361B-467C-87A0-7666CAFC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92F"/>
          </a:solidFill>
          <a:ln xmlns:a="http://schemas.openxmlformats.org/drawingml/2006/main" w="0">
            <a:solidFill>
              <a:srgbClr val="1019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8D73B-547E-4BC8-84C9-62BC7F30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51515"/>
                </a:solidFill>
                <a:latin typeface="Aptos"/>
                <a:ea typeface="Aptos"/>
                <a:cs typeface="Aptos"/>
              </a:rPr>
              <a:t>Frontend workspace with preview and 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17A4A-C8BD-4238-AAB8-3F0D115A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Mechanical OpenSCAD Copilot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0ED68-503A-4FDE-B4D5-D057F7D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96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>
                <a:solidFill>
                  <a:srgbClr val="8A919C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8A919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85F35-A88F-45DA-B3F4-BB27E2D0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8A919C"/>
                </a:solidFill>
                <a:latin typeface="Consolas"/>
                <a:ea typeface="Consolas"/>
                <a:cs typeface="Consolas"/>
              </a:defRPr>
            </a:pPr>
            <a:r>
              <a:rPr sz="788">
                <a:solidFill>
                  <a:srgbClr val="8A919C"/>
                </a:solidFill>
                <a:latin typeface="Consolas"/>
                <a:ea typeface="Consolas"/>
                <a:cs typeface="Consola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42796005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019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7DECF-951E-4CA4-8147-D61A02D8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FD808-DA65-4808-BCEB-EFA78E85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0350B-F153-4182-A61D-851C55E7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BE4F2"/>
                </a:solidFill>
                <a:latin typeface="Aptos"/>
                <a:ea typeface="Aptos"/>
                <a:cs typeface="Aptos"/>
              </a:rPr>
              <a:t>app.py coordinates the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9A47E-22F3-4E95-881B-B2A40077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0715D-BC39-4224-8558-5DDE8772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BE4F2"/>
                </a:solidFill>
                <a:latin typeface="Aptos"/>
                <a:ea typeface="Aptos"/>
                <a:cs typeface="Aptos"/>
              </a:rPr>
              <a:t>rag.py supplies mechanical knowledge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09850-E46C-4BD0-9E61-B0A90A42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AFA8C-12AF-4E7E-A736-C02AA8C0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BE4F2"/>
                </a:solidFill>
                <a:latin typeface="Aptos"/>
                <a:ea typeface="Aptos"/>
                <a:cs typeface="Aptos"/>
              </a:rPr>
              <a:t>validation_and_logging.py controls quality and traceability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CBD19-5636-4D54-8015-D46B749B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8DD12-9224-471A-96CC-6AB242AE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1947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BE4F2"/>
                </a:solidFill>
                <a:latin typeface="Aptos"/>
                <a:ea typeface="Aptos"/>
                <a:cs typeface="Aptos"/>
              </a:rPr>
              <a:t>frontend/ gives users an interactive CAD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843FE-4542-4DED-8A8A-2DFD184D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1A539-FCB7-49CE-87FD-FA3E0E49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719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BE4F2"/>
                </a:solidFill>
                <a:latin typeface="Aptos"/>
                <a:ea typeface="Aptos"/>
                <a:cs typeface="Aptos"/>
              </a:rPr>
              <a:t>backend/docs provides the engineering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09C49-E819-4D7D-9896-9744DEAB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8B7B8-BE6B-46E2-BDB5-6CE171F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2437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BE4F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BE4F2"/>
                </a:solidFill>
                <a:latin typeface="Aptos"/>
                <a:ea typeface="Aptos"/>
                <a:cs typeface="Aptos"/>
              </a:rPr>
              <a:t>Together they convert prompts into validated parametric CAD models</a:t>
            </a:r>
          </a:p>
        </p:txBody>
      </p:sp>
    </p:spTree>
    <p:extLst>
      <p:ext uri="{BB962C8B-B14F-4D97-AF65-F5344CB8AC3E}">
        <p14:creationId xmlns:p14="http://schemas.microsoft.com/office/powerpoint/2010/main" val="2050312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2026-06-15T16:01:02.8120000Z</dcterms:created>
  <dcterms:modified xsi:type="dcterms:W3CDTF">2026-06-15T16:01:02.8120000Z</dcterms:modified>
</coreProperties>
</file>