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511de79a1d4c21" /><Relationship Type="http://schemas.openxmlformats.org/officeDocument/2006/relationships/extended-properties" Target="/docProps/app.xml" Id="R51f3c7ee86474a5e" /><Relationship Type="http://schemas.openxmlformats.org/officeDocument/2006/relationships/officeDocument" Target="/ppt/presentation.xml" Id="Rb5fdb286e0834d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66bd61c39446cc"/>
  </p:sldMasterIdLst>
  <p:notesMasterIdLst>
    <p:notesMasterId xmlns:r="http://schemas.openxmlformats.org/officeDocument/2006/relationships" r:id="Rd923ffadd5a645e7"/>
  </p:notesMasterIdLst>
  <p:sldIdLst>
    <p:sldId xmlns:r="http://schemas.openxmlformats.org/officeDocument/2006/relationships" id="256" r:id="Rf828bf9c5f0c49b0"/>
    <p:sldId xmlns:r="http://schemas.openxmlformats.org/officeDocument/2006/relationships" id="257" r:id="Rf9de6e2e38b14b29"/>
    <p:sldId xmlns:r="http://schemas.openxmlformats.org/officeDocument/2006/relationships" id="258" r:id="R00a10c56184d48b8"/>
    <p:sldId xmlns:r="http://schemas.openxmlformats.org/officeDocument/2006/relationships" id="259" r:id="R62f0b523f6eb45c9"/>
    <p:sldId xmlns:r="http://schemas.openxmlformats.org/officeDocument/2006/relationships" id="260" r:id="R263a265bc21b4caa"/>
    <p:sldId xmlns:r="http://schemas.openxmlformats.org/officeDocument/2006/relationships" id="261" r:id="R4dde7dbbbc064866"/>
    <p:sldId xmlns:r="http://schemas.openxmlformats.org/officeDocument/2006/relationships" id="262" r:id="R7d86cd4507404870"/>
    <p:sldId xmlns:r="http://schemas.openxmlformats.org/officeDocument/2006/relationships" id="263" r:id="R6e77dcc20e834301"/>
    <p:sldId xmlns:r="http://schemas.openxmlformats.org/officeDocument/2006/relationships" id="264" r:id="R007161024fe34c15"/>
    <p:sldId xmlns:r="http://schemas.openxmlformats.org/officeDocument/2006/relationships" id="265" r:id="Refa86c6c231140eb"/>
    <p:sldId xmlns:r="http://schemas.openxmlformats.org/officeDocument/2006/relationships" id="266" r:id="Rcdd2cdbe1f9d4da6"/>
    <p:sldId xmlns:r="http://schemas.openxmlformats.org/officeDocument/2006/relationships" id="267" r:id="R42a1764e6e894724"/>
    <p:sldId xmlns:r="http://schemas.openxmlformats.org/officeDocument/2006/relationships" id="268" r:id="Rb6f3b068dca14939"/>
    <p:sldId xmlns:r="http://schemas.openxmlformats.org/officeDocument/2006/relationships" id="269" r:id="R39833d1514a94a07"/>
    <p:sldId xmlns:r="http://schemas.openxmlformats.org/officeDocument/2006/relationships" id="270" r:id="Re13fe34a214d47a1"/>
    <p:sldId xmlns:r="http://schemas.openxmlformats.org/officeDocument/2006/relationships" id="271" r:id="R583913c2389d41cc"/>
    <p:sldId xmlns:r="http://schemas.openxmlformats.org/officeDocument/2006/relationships" id="272" r:id="Rc904195549e94490"/>
    <p:sldId xmlns:r="http://schemas.openxmlformats.org/officeDocument/2006/relationships" id="273" r:id="R4287eefc45ea42b6"/>
    <p:sldId xmlns:r="http://schemas.openxmlformats.org/officeDocument/2006/relationships" id="274" r:id="R00469d36bfa74190"/>
    <p:sldId xmlns:r="http://schemas.openxmlformats.org/officeDocument/2006/relationships" id="275" r:id="R9fb5b5412ffe4747"/>
    <p:sldId xmlns:r="http://schemas.openxmlformats.org/officeDocument/2006/relationships" id="276" r:id="Rea6c9f81712044be"/>
    <p:sldId xmlns:r="http://schemas.openxmlformats.org/officeDocument/2006/relationships" id="277" r:id="R1d909454effd471a"/>
    <p:sldId xmlns:r="http://schemas.openxmlformats.org/officeDocument/2006/relationships" id="278" r:id="Ra90bec3a515b450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f3d3cf50264e3a" /><Relationship Type="http://schemas.openxmlformats.org/officeDocument/2006/relationships/slideMaster" Target="/ppt/slideMasters/slideMaster1.xml" Id="R7b66bd61c39446cc" /><Relationship Type="http://schemas.openxmlformats.org/officeDocument/2006/relationships/notesMaster" Target="/ppt/notesMasters/notesMaster1.xml" Id="Rd923ffadd5a645e7" /><Relationship Type="http://schemas.openxmlformats.org/officeDocument/2006/relationships/presProps" Target="/ppt/presProps.xml" Id="R85113f97d2d641f2" /><Relationship Type="http://schemas.openxmlformats.org/officeDocument/2006/relationships/tableStyles" Target="/ppt/tableStyles.xml" Id="R478a0544ba144829" /><Relationship Type="http://schemas.openxmlformats.org/officeDocument/2006/relationships/slide" Target="/ppt/slides/slide1.xml" Id="Rf828bf9c5f0c49b0" /><Relationship Type="http://schemas.openxmlformats.org/officeDocument/2006/relationships/slide" Target="/ppt/slides/slide2.xml" Id="Rf9de6e2e38b14b29" /><Relationship Type="http://schemas.openxmlformats.org/officeDocument/2006/relationships/slide" Target="/ppt/slides/slide3.xml" Id="R00a10c56184d48b8" /><Relationship Type="http://schemas.openxmlformats.org/officeDocument/2006/relationships/slide" Target="/ppt/slides/slide4.xml" Id="R62f0b523f6eb45c9" /><Relationship Type="http://schemas.openxmlformats.org/officeDocument/2006/relationships/slide" Target="/ppt/slides/slide5.xml" Id="R263a265bc21b4caa" /><Relationship Type="http://schemas.openxmlformats.org/officeDocument/2006/relationships/slide" Target="/ppt/slides/slide6.xml" Id="R4dde7dbbbc064866" /><Relationship Type="http://schemas.openxmlformats.org/officeDocument/2006/relationships/slide" Target="/ppt/slides/slide7.xml" Id="R7d86cd4507404870" /><Relationship Type="http://schemas.openxmlformats.org/officeDocument/2006/relationships/slide" Target="/ppt/slides/slide8.xml" Id="R6e77dcc20e834301" /><Relationship Type="http://schemas.openxmlformats.org/officeDocument/2006/relationships/slide" Target="/ppt/slides/slide9.xml" Id="R007161024fe34c15" /><Relationship Type="http://schemas.openxmlformats.org/officeDocument/2006/relationships/slide" Target="/ppt/slides/slide10.xml" Id="Refa86c6c231140eb" /><Relationship Type="http://schemas.openxmlformats.org/officeDocument/2006/relationships/slide" Target="/ppt/slides/slide11.xml" Id="Rcdd2cdbe1f9d4da6" /><Relationship Type="http://schemas.openxmlformats.org/officeDocument/2006/relationships/slide" Target="/ppt/slides/slide12.xml" Id="R42a1764e6e894724" /><Relationship Type="http://schemas.openxmlformats.org/officeDocument/2006/relationships/slide" Target="/ppt/slides/slide13.xml" Id="Rb6f3b068dca14939" /><Relationship Type="http://schemas.openxmlformats.org/officeDocument/2006/relationships/slide" Target="/ppt/slides/slide14.xml" Id="R39833d1514a94a07" /><Relationship Type="http://schemas.openxmlformats.org/officeDocument/2006/relationships/slide" Target="/ppt/slides/slide15.xml" Id="Re13fe34a214d47a1" /><Relationship Type="http://schemas.openxmlformats.org/officeDocument/2006/relationships/slide" Target="/ppt/slides/slide16.xml" Id="R583913c2389d41cc" /><Relationship Type="http://schemas.openxmlformats.org/officeDocument/2006/relationships/slide" Target="/ppt/slides/slide17.xml" Id="Rc904195549e94490" /><Relationship Type="http://schemas.openxmlformats.org/officeDocument/2006/relationships/slide" Target="/ppt/slides/slide18.xml" Id="R4287eefc45ea42b6" /><Relationship Type="http://schemas.openxmlformats.org/officeDocument/2006/relationships/slide" Target="/ppt/slides/slide19.xml" Id="R00469d36bfa74190" /><Relationship Type="http://schemas.openxmlformats.org/officeDocument/2006/relationships/slide" Target="/ppt/slides/slide20.xml" Id="R9fb5b5412ffe4747" /><Relationship Type="http://schemas.openxmlformats.org/officeDocument/2006/relationships/slide" Target="/ppt/slides/slide21.xml" Id="Rea6c9f81712044be" /><Relationship Type="http://schemas.openxmlformats.org/officeDocument/2006/relationships/slide" Target="/ppt/slides/slide22.xml" Id="R1d909454effd471a" /><Relationship Type="http://schemas.openxmlformats.org/officeDocument/2006/relationships/slide" Target="/ppt/slides/slide23.xml" Id="Ra90bec3a515b45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3a0305d42b4b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39f35443734e1b" /><Relationship Type="http://schemas.openxmlformats.org/officeDocument/2006/relationships/notesMaster" Target="/ppt/notesMasters/notesMaster1.xml" Id="R7a4282de40ac4a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686e1dde194302" /><Relationship Type="http://schemas.openxmlformats.org/officeDocument/2006/relationships/notesMaster" Target="/ppt/notesMasters/notesMaster1.xml" Id="R004221bc04b147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cbd4acd7d54f43" /><Relationship Type="http://schemas.openxmlformats.org/officeDocument/2006/relationships/notesMaster" Target="/ppt/notesMasters/notesMaster1.xml" Id="R382c2098ad9f47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e53adba3b445c8" /><Relationship Type="http://schemas.openxmlformats.org/officeDocument/2006/relationships/notesMaster" Target="/ppt/notesMasters/notesMaster1.xml" Id="Re557e98b10e143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42fff990774351" /><Relationship Type="http://schemas.openxmlformats.org/officeDocument/2006/relationships/notesMaster" Target="/ppt/notesMasters/notesMaster1.xml" Id="R4b3e17204d3e42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939b02e298489b" /><Relationship Type="http://schemas.openxmlformats.org/officeDocument/2006/relationships/notesMaster" Target="/ppt/notesMasters/notesMaster1.xml" Id="Rcd8afa47d6fd41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6357434677473d" /><Relationship Type="http://schemas.openxmlformats.org/officeDocument/2006/relationships/notesMaster" Target="/ppt/notesMasters/notesMaster1.xml" Id="Rcd0a9cb7607748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44e150d37f43c7" /><Relationship Type="http://schemas.openxmlformats.org/officeDocument/2006/relationships/notesMaster" Target="/ppt/notesMasters/notesMaster1.xml" Id="R9146c9cc81fa42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c7c6f21c914702" /><Relationship Type="http://schemas.openxmlformats.org/officeDocument/2006/relationships/notesMaster" Target="/ppt/notesMasters/notesMaster1.xml" Id="R7a080c1509354c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4c607ec26b49ee" /><Relationship Type="http://schemas.openxmlformats.org/officeDocument/2006/relationships/notesMaster" Target="/ppt/notesMasters/notesMaster1.xml" Id="Rae30cd40c5cc469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31b3df9abf4ac4" /><Relationship Type="http://schemas.openxmlformats.org/officeDocument/2006/relationships/notesMaster" Target="/ppt/notesMasters/notesMaster1.xml" Id="R759fba68a0f048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221c2830914f5a" /><Relationship Type="http://schemas.openxmlformats.org/officeDocument/2006/relationships/notesMaster" Target="/ppt/notesMasters/notesMaster1.xml" Id="Rd0bc3941cd5f49c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ad49822c6c948e7" /><Relationship Type="http://schemas.openxmlformats.org/officeDocument/2006/relationships/notesMaster" Target="/ppt/notesMasters/notesMaster1.xml" Id="R1ddbe51617c5465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08aa68737842f6" /><Relationship Type="http://schemas.openxmlformats.org/officeDocument/2006/relationships/notesMaster" Target="/ppt/notesMasters/notesMaster1.xml" Id="R9ce196f65f404b8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b2aaf3d677843c5" /><Relationship Type="http://schemas.openxmlformats.org/officeDocument/2006/relationships/notesMaster" Target="/ppt/notesMasters/notesMaster1.xml" Id="R9091dbdaf518446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780ee7397b7438e" /><Relationship Type="http://schemas.openxmlformats.org/officeDocument/2006/relationships/notesMaster" Target="/ppt/notesMasters/notesMaster1.xml" Id="R6f1905e5394a4bb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d14a1e62ec44a50" /><Relationship Type="http://schemas.openxmlformats.org/officeDocument/2006/relationships/notesMaster" Target="/ppt/notesMasters/notesMaster1.xml" Id="Rc1e206c6044b4d2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d9776264f6749fc" /><Relationship Type="http://schemas.openxmlformats.org/officeDocument/2006/relationships/notesMaster" Target="/ppt/notesMasters/notesMaster1.xml" Id="R293abef896fa443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14048353dc04314" /><Relationship Type="http://schemas.openxmlformats.org/officeDocument/2006/relationships/notesMaster" Target="/ppt/notesMasters/notesMaster1.xml" Id="R21fd9a32c07e433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517d9f9e6874e21" /><Relationship Type="http://schemas.openxmlformats.org/officeDocument/2006/relationships/notesMaster" Target="/ppt/notesMasters/notesMaster1.xml" Id="R486153b3c598454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783c35150bf4e1b" /><Relationship Type="http://schemas.openxmlformats.org/officeDocument/2006/relationships/notesMaster" Target="/ppt/notesMasters/notesMaster1.xml" Id="R4c6216d73ba344b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57bff40bc5b4394" /><Relationship Type="http://schemas.openxmlformats.org/officeDocument/2006/relationships/notesMaster" Target="/ppt/notesMasters/notesMaster1.xml" Id="R76b6be46ae154af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64dd89416b147b9" /><Relationship Type="http://schemas.openxmlformats.org/officeDocument/2006/relationships/notesMaster" Target="/ppt/notesMasters/notesMaster1.xml" Id="R91b245e8be5348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this section by saying that these two files form the core backend intelligence. app.py coordinates the process, while rag.py grounds the model with mechanical references.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app.py as the control center. It does not only call the AI model; it manages the complete request lifecycle.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should be explained as the most important backend workflow. /api/chat is where natural language becomes CAD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ModelGateway is an abstraction. It lets the system switch model providers without changing the rest of the application logic.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rag.py does not generate code. Its job is to find the right engineering knowledge before the model generates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retrieval is domain-aware. It does not just search by text similarity; it adjusts scores using mechanical family logic.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bridge slide. The key point is that app.py is the controller and rag.py is the knowledge supplier.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system prompt is the first quality layer. It tells the model what role to take and what output format is acceptable.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domain-specific prompt engineering. The prompt directly teaches or reminds the model about OpenSCAD rules and common failure cases.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app.py adds instructions depending on the detected part family. This makes the prompt more precise than the original user request.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 information is useful, but it should not pollute the .scad file. Geometry remains in code, while material guidance appears separately.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Tolerances are part of engineering-aware prompting. The model receives manufacturing context so the result is not only visually correct but also more usable.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frontend is the user-facing CAD workspace. It is lightweight but shows many backend outputs in an organized way.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main.js is the frontend controller. It connects the UI to backend endpoints and updates the screen after each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this slide as the practical user experience. The interface supports design, inspection, and export in one place.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section explains where the system knowledge comes from. backend/docs is not just documentation; it is used actively during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Different knowledge types are used because some engineering knowledge is better as prose, some as structured records, and some as executable library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JSON files are the structured part of the knowledge base. They help the system extract features, parameters, and engineering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TXT files act like engineering rulebooks. They help the AI understand how a real part should be modeled.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Some geometry is too specialized to generate from scratch reliably. Reusing OpenSCAD libraries improves output quality.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Family names are important because they tie together retrieval, prompting, and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explains how static files become active generation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by showing that docs influence both generation and quality control. This is a major research strength of the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794979bb9c4c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9da4bea83640c5" /><Relationship Type="http://schemas.openxmlformats.org/officeDocument/2006/relationships/slideLayout" Target="/ppt/slideLayouts/slideLayout1.xml" Id="R4a8a4a56db8d4e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8a4a56db8d4e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f424e16874550" /><Relationship Type="http://schemas.openxmlformats.org/officeDocument/2006/relationships/notesSlide" Target="/ppt/notesSlides/notesSlide1.xml" Id="Ra5b8291c257643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23a9e28a34eb3" /><Relationship Type="http://schemas.openxmlformats.org/officeDocument/2006/relationships/notesSlide" Target="/ppt/notesSlides/notesSlide2.xml" Id="R09bdef714bd64f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3a5ca438147fb" /><Relationship Type="http://schemas.openxmlformats.org/officeDocument/2006/relationships/notesSlide" Target="/ppt/notesSlides/notesSlide3.xml" Id="R752bb394832045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4ba687c954ab0" /><Relationship Type="http://schemas.openxmlformats.org/officeDocument/2006/relationships/notesSlide" Target="/ppt/notesSlides/notesSlide4.xml" Id="Rc4b78f0bb1d344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b8c57a0274882" /><Relationship Type="http://schemas.openxmlformats.org/officeDocument/2006/relationships/notesSlide" Target="/ppt/notesSlides/notesSlide5.xml" Id="Rf18a7dcf1b2e43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030af90a14377" /><Relationship Type="http://schemas.openxmlformats.org/officeDocument/2006/relationships/notesSlide" Target="/ppt/notesSlides/notesSlide6.xml" Id="Rd7a730fa84dc46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d3006ff6442b7" /><Relationship Type="http://schemas.openxmlformats.org/officeDocument/2006/relationships/notesSlide" Target="/ppt/notesSlides/notesSlide7.xml" Id="Rea20253991a141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27a4084af4edf" /><Relationship Type="http://schemas.openxmlformats.org/officeDocument/2006/relationships/notesSlide" Target="/ppt/notesSlides/notesSlide8.xml" Id="Rbfab17a4a3db40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fb4d0a178459f" /><Relationship Type="http://schemas.openxmlformats.org/officeDocument/2006/relationships/notesSlide" Target="/ppt/notesSlides/notesSlide9.xml" Id="R91488bb0f5ff4b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1b058bf054778" /><Relationship Type="http://schemas.openxmlformats.org/officeDocument/2006/relationships/notesSlide" Target="/ppt/notesSlides/notesSlide10.xml" Id="R55327ea29dc74d6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d025dc6584836" /><Relationship Type="http://schemas.openxmlformats.org/officeDocument/2006/relationships/notesSlide" Target="/ppt/notesSlides/notesSlide11.xml" Id="R21fc18f6ddb142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39ce5507e4b22" /><Relationship Type="http://schemas.openxmlformats.org/officeDocument/2006/relationships/notesSlide" Target="/ppt/notesSlides/notesSlide12.xml" Id="Rc537424687ce43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6e6fe915149b5" /><Relationship Type="http://schemas.openxmlformats.org/officeDocument/2006/relationships/notesSlide" Target="/ppt/notesSlides/notesSlide13.xml" Id="R8cbeb3b44154492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967e0157144d5" /><Relationship Type="http://schemas.openxmlformats.org/officeDocument/2006/relationships/notesSlide" Target="/ppt/notesSlides/notesSlide14.xml" Id="R5c86a39a596541d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d7e1c6429493d" /><Relationship Type="http://schemas.openxmlformats.org/officeDocument/2006/relationships/notesSlide" Target="/ppt/notesSlides/notesSlide15.xml" Id="Rd54a89f158ba4ca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d294487c7432b" /><Relationship Type="http://schemas.openxmlformats.org/officeDocument/2006/relationships/notesSlide" Target="/ppt/notesSlides/notesSlide16.xml" Id="R9e375edba70b4c2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7c98db6bc4a0d" /><Relationship Type="http://schemas.openxmlformats.org/officeDocument/2006/relationships/notesSlide" Target="/ppt/notesSlides/notesSlide17.xml" Id="R8f976c71cec941d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caae141ca4900" /><Relationship Type="http://schemas.openxmlformats.org/officeDocument/2006/relationships/notesSlide" Target="/ppt/notesSlides/notesSlide18.xml" Id="Rf4785742d66b44b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48a39e6ce4ec7" /><Relationship Type="http://schemas.openxmlformats.org/officeDocument/2006/relationships/notesSlide" Target="/ppt/notesSlides/notesSlide19.xml" Id="R734727a19a9845e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b1e6101124097" /><Relationship Type="http://schemas.openxmlformats.org/officeDocument/2006/relationships/notesSlide" Target="/ppt/notesSlides/notesSlide20.xml" Id="Rbd6fb78c2658480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a73fe400c498e" /><Relationship Type="http://schemas.openxmlformats.org/officeDocument/2006/relationships/notesSlide" Target="/ppt/notesSlides/notesSlide21.xml" Id="Rffaa59b40aa04e4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e988d352e4b47" /><Relationship Type="http://schemas.openxmlformats.org/officeDocument/2006/relationships/notesSlide" Target="/ppt/notesSlides/notesSlide22.xml" Id="R832ce2d7d4de48d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450777c254755" /><Relationship Type="http://schemas.openxmlformats.org/officeDocument/2006/relationships/notesSlide" Target="/ppt/notesSlides/notesSlide23.xml" Id="Rcb476b8c834b4a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35AA52-1A73-4FD4-9213-E4076CDE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00D2B-5973-43BC-9307-26FE2339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2D6DD-6A88-44DE-9647-24C61D72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0A553-3C12-48DD-B06B-F83974B1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APP.PY + RAG.PY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6BF6C-C319-45D6-BE7E-B77CA273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62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7-slide section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1462B-D714-46AA-A619-179ADE38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Backend Intelligence: app.py and rag.py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E6AD3-8311-4ED0-BCC0-6C122D2A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988695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FB97C6-FCA0-4104-BD3C-5009493B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2D755-EEC8-4910-ACE0-5EAE2920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app.py controls the generation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E7068-2D91-4B88-9E0D-879BAEA1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3644D-5AED-4FB1-9AE9-EC8E36FA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574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rag.py supplies relevant mechanical knowledge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F57A17-D159-493B-AE6B-5E9B3817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DBAEAF-6822-4B67-96B9-E759C969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Together they convert user prompts into validated OpenSCAD 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674C9B-B316-4986-A4CD-68D8FF0B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75260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09C3E-3487-42B7-A8C5-8C6ACE67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71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324D6-321B-4AB7-AA92-AC8D31AA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OpenSCAD Copilot Thesis Deck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BBDB93-8B78-48D0-9F93-3D65A324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app.py + rag.py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B2CA94-B5AB-40BC-BC81-D72BA1A8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592A3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592A3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079987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AEAECF-82E1-4DB3-943E-55ED08E1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2F0C7-8C15-420C-BC65-7B3CE00C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6B86D-D152-4B1E-8DF6-82466E50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77E0C-E341-48A1-AE6A-AAC523EF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APP.PY + RAG.PY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27A4B-3A8F-430C-B298-33A07269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app.py: Main Orchestration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76941-F467-4D37-AEAF-F35F02F5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988695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E15EC-7CF4-4AD5-81D2-C8C41891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1552A-831A-4BF3-9593-13F47CAE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Creates the FastAPI backend server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48EA9-B1E7-46AA-A6EC-46843FD8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ADC582-A2F2-4E1B-A878-E65C5C02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574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Receives frontend requests through API endpoints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BBABAB-8C7D-4A4A-9693-E7412DD5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3E81B1-3085-416F-9E72-976BC4EB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Selects model provider and generation settings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1318F-FB69-4B9E-8CC6-DC413DA5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4AFA34-4493-4EEA-A20A-FD273F8C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Coordinates RAG, prompt building, validation, repair, and export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BB727-F24D-44B0-B7DF-B7C91E9F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14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C434C0-807D-413D-ACC2-927678D1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291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Returns code plus engineering analysis to the frontend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51E2DF-FFD3-44AE-9620-A37E8D75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75260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4EA6DF-E16D-4DE6-B496-F0D62C54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71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782956-B4F4-44A2-9568-FFA36C70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OpenSCAD Copilot Thesis Deck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173B30-635F-4BD3-8D5E-E5E638E4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app.py + rag.py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0AF680-EC5B-476B-A42A-5D8A6089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592A3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592A3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490479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BB724B-6920-47E5-AD66-56E6B12F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3689B-123B-4045-B70F-2C77EEFA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EBA8C-5ED5-4E53-BBE8-FB39716D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02DCF-D770-4C7C-92A4-C340598B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APP.PY + RAG.PY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82329-1C26-4804-859F-5B6CF96A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Main /api/chat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E4838-3F7E-45E7-A740-2075FC5A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988695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02877-1110-46FA-9DEE-212CC12C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8C51B-7A12-48A1-8933-98A78AD9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Validate prompt and model settings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71FE51-6264-42E5-87F0-4E4C0282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4AC85-4FE3-401E-9425-92371F1F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574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Build conversation memory from recent user messages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6EF666-C69C-4FB9-80FD-EE0B46D8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50541D-EA25-4AF3-B014-F42EFA75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Detect the requested mechanical part family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540AA3-9998-403A-A0B5-A1FC8FC2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841B43-9E45-4A70-83E3-EA8A8D62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Retrieve relevant RAG knowledge unless disabled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DA6419-7DEA-465E-B645-05D03FCB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14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C02AB-5C61-4F3E-8E1E-CF9A305A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291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Generate OpenSCAD with the selected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C36FE3-F35B-443F-9B4F-1B0CE464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7599F9-8703-4F79-902F-C771C916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529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Validate, repair, or fallback when needed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F69305-5F0F-4B92-855F-7A11DE08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75260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1CA53B-872C-4B35-BC6E-4E3C5349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71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D9ABA7-D0B2-48FA-92F1-FFF6C0A6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OpenSCAD Copilot Thesis Deck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CF346D-F159-46FD-8F43-93ABD4CA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app.py + rag.py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FB62D6-243F-4B58-803B-40743E83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592A3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592A3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74146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52826A-3FE6-4CCA-B94F-E0EC5B2F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70EE7-AD8D-4B9A-8AF3-1FA67802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261E7-3619-4C2A-9DCE-4140498D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B23BE-71DC-4A70-9520-EB4B2D71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APP.PY + RAG.PY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F139E-4A83-4EEC-9891-C413AB2F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Model Gateway and Provider Handling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55BB35-BC82-4239-BE0D-27DE65FA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988695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2AB3A-4F41-462A-B96F-EE8B79C4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92716-449F-4E08-8B3B-EB847927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Supports Ollama, OpenAI, OpenRouter, and Hugging 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D07ED-3DA3-4713-848F-69C623B4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0CC1A-36CD-43B2-B247-81CAD808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574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Provides one generate() interface for all providers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E547DC-FC16-47EF-9646-C37708B1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F0C51-5910-4527-942A-A806B904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Checks which providers are available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0E65B3-7446-4D82-BED8-5A1EFA44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7FC41D-1BE0-4BAF-81C3-38CE1A44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Uses fallback when selected provider fails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8D5D2-3FA5-4DE0-9942-7D7A58DA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14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CE3136-ACF1-4094-BFDC-9B4BE2A1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291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Keeps provider-specific API logic isolated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D91CC2-8302-40A0-A655-54E613B7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75260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4B5EB9-FB5F-4218-93A1-59E59731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71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625AAD-D67F-45F0-AC2A-BDEBC2C5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OpenSCAD Copilot Thesis Deck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DDBF3B-1EC9-4C76-93FD-97573E9F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app.py + rag.py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DEBAD6-84F6-4EB5-9CAC-9AD0F032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592A3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592A3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307654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7D5FF0-35DE-47F5-A856-13010211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37EC5-D7E5-448B-BBA5-E086C3A2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811ED-4D21-4651-A1A6-7CE457BB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87942-BCD6-40C4-BBBA-B1EBCB44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APP.PY + RAG.PY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09FBA-AEDD-4C90-BCA4-59637F1D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rag.py: Retrieval Knowledge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E1E2D-66FA-48C4-9AF2-25DD7435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988695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6BCE7-D668-4138-851B-CD4ABC53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99449-C461-4379-8BC1-5DBDEF5B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Loads mechanical documents from backend/docs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C547B-BCBC-4F6D-B93D-63DE72DD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24278-B375-4CAE-8BBE-D9624A81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574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Converts text and JSON records into searchable documents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997FF-642B-4A1C-9729-166B3373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DF830-5DCE-4C67-8FAF-4B5DBF9C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Detects part families such as gear, pulley, bearing housing, and bracket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1EBA00-2F14-4F54-8FD7-0D08ED53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0088F5-6EBC-4F2D-BA40-561446F1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Ranks relevant references for each 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D99455-98AD-44DC-AC06-7D9BCA22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14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08BEF5-A1BE-4941-A9F0-5FDCF329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291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Returns context that app.py injects into the AI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DEEC5B-9A2C-4EA5-938E-97938783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75260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ED0D97-2921-4D12-A644-ECE900FC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71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C3AC86-0237-4DF9-8C37-F93D3493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OpenSCAD Copilot Thesis Deck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3D44AB-65DA-48FC-A06D-CCE7C6D2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app.py + rag.py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E736DD-A488-4C67-93C0-86D609FD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592A3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592A3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242426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F93819-ED9F-49ED-A132-FCB18124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40D7C-215C-4F81-AEF8-9515D2F9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8C09C-06B3-4F50-A82E-9A03E6F2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74F0C-09EB-4FAE-8ED6-E3B9E976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APP.PY + RAG.PY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574B6-990A-4E71-A13E-05F53CEC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Retrieval and Ranking Strategy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6056B-B9D5-4D47-95E0-ED329933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988695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43692-0D81-4C02-985A-9F694FA6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B2F3B-3B64-4E3C-B453-77547E30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Uses keyword family detection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A8BD2-C53D-4E5B-B3D3-A146188A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49249-0232-4974-BE20-01FB8778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574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Supports embeddings for semantic similarity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27BE72-EFFA-4A21-9DA0-C0F6D0B5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A076F-70AE-42D3-8858-9F1ADD95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Falls back to TF-IDF when embeddings are unavailable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50332A-32C8-47BC-B97D-DCA19F63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620FC5-DA12-4650-A549-738005ED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Boosts documents from the detected family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2035F-636B-4870-9E91-88F5ACAF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14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FFC056-0745-4FB6-B1F0-EEAF9D27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291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Penalizes unrelated or negative-keyword matches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BE5C47-6179-4CD8-BEC6-BB7A669A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6399B4-D2B6-4AC5-B606-972E062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529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Keeps scores interpretable between 0 and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797B1D-A60E-4F4A-BCC4-ACDBFA26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75260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1EDC3C-CD81-454C-823D-E599696B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71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E560DF-45E5-4FBA-8D98-10C37CA1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OpenSCAD Copilot Thesis Deck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254B97-5BC9-4AE4-AC31-A748F7B8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app.py + rag.py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C864AC-805E-467D-8716-45EA8754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592A3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592A3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839554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F09D8F-8D58-4DC5-A9AC-FA937BBC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F6B2E-C4A2-4875-9387-9D9D228D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A95E8-2104-41D9-B0A4-775574FF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A2542-56F4-4E5D-8FBA-05E6EA7F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APP.PY + RAG.PY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D8BB1-C071-4FC2-A2AF-A676B857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How app.py and rag.py Work Together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1DAE8-9DF3-482B-8279-20D33455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988695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8587B-909B-46C5-8184-BFC6A7C7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AA0BC-C013-4169-8B2C-AFEAA175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app.py receives the 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C6C8F-A98A-414F-93EF-898B32BB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03026-3A94-4D8B-8407-FC2431EC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574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rag.py classifies and retrieves relevant knowledge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89A19E-B42B-4C31-92A9-D110EFA2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886FD-1707-4598-9CDE-2F5D5C30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app.py adds retrieved references to the prompt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3DC2D-7DD3-4A26-B3D9-75F0053B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5AF854-28E9-4497-9F99-81BD6AAE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AI model generates grounded OpenSCAD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B867DA-8637-46E2-A462-681CE379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14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956EDC-97AD-4A1D-8AFB-0ED3D4EF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291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app.py validates and returns the final 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A0891B-F278-41F1-9CC5-3E1F1FC4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75260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6B5715-9A9D-49D4-99A5-2E848603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71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9591E7-75D7-4C64-AC50-55F1548A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OpenSCAD Copilot Thesis Deck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A53F0-E2B0-44C0-B430-5D7F3EC9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app.py + rag.py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B9816C-E9FF-4066-8660-C261DBD4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592A3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592A3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140972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24FEE2-5D19-481E-9BB7-A4117CF9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0D4FC-BF62-41C4-9207-627EE2DA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3B9A7-300E-43F3-959F-2FE515F0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B71E8-137A-4B37-BB04-C36A0381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SYSTEM PROMPTS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AFCA8-93BD-4C6C-8E94-4425C505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62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A7A2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A7A22"/>
                </a:solidFill>
                <a:latin typeface="Aptos"/>
                <a:ea typeface="Aptos"/>
                <a:cs typeface="Aptos"/>
              </a:rPr>
              <a:t>5-slide section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24C0C-4086-46F3-98BD-D647BA55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System Prompt Role in app.py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65C3D-BA71-41AD-9001-ED8074C8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988695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FF1D8-788E-4569-A541-BCDF3BB8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A69E7-3D29-45E1-80C5-98543F16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Defines the model as a senior mechanical OpenSCAD copilot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75A0EB-45A4-43A8-BF53-6A4BA12C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176F9-5A54-4378-BF4B-1AE98B09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574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Requires raw .scad output 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BE52B-6AE3-4B02-83AE-49741C38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DFCD8-DAB5-44B0-B7F7-123167A7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Prevents markdown, prose, and language labels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32AA67-AA7D-40C6-995D-2A66BF2D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F3D9A-68A9-46DD-97B2-70268461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Prioritizes parametric editable geometry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9DCCBF-4BCF-4D36-B1C4-D39BA292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14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5203EF-CB6E-4DAD-88C0-8114981E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291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Controls the model before validation happens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4C0022-8393-4A10-93A0-866DAF0A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75260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60AA74-ED88-490B-84B0-30CCE1FE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71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A7A22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EA7A22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DD39B8-1DA5-4925-817A-1BF38AAE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OpenSCAD Copilot Thesis Deck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392EE7-675E-466F-BB7F-83A7A2F3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System Prompts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A1DD24-5DA0-4C3B-9B38-EA6E18AE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592A3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592A3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26221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0C8783-C1E7-451B-B3A3-3C6BDA45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AA80A-2A4D-4CD9-BF85-762B6A00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81E91-F80A-424F-8611-AA115A5D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E8CCA-0E98-4B1F-8716-E9C1D1C0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SYSTEM PROMPTS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B8DC3-C80C-45FB-8F06-6F4FF623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OpenSCAD Rules Inside the Prompt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960AC-495F-405F-9C0E-FF9CE923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988695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729FE-1427-4F6C-BE11-B20E7A72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92066-926E-4622-B446-493B7A62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Includes syntax guidance for variables, modules, loops, and transforms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D4E95-1DBC-4429-9C8B-595231D3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1CFB5E-AF7E-4502-841D-1B9CCFC0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574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Lists valid 2D and 3D primitives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46DAE-0C90-4770-81EC-60C9217E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44260D-90E9-4CD2-B3EE-B434BB79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Requires difference() for holes, bores, and cutouts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82298-73F2-4CB1-B2C8-685952CA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569982-45FC-42C1-86C2-68C7C61C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Warns that modules do not return values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05060D-8CEB-493E-9294-E6CA5D00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14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9400CB-B3DE-4344-940E-1F046F5C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291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Requires the main module to be called once at the 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925622-5202-480F-B915-1470FB66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75260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553667-6454-4CF1-A7C2-9C3A02BB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71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A7A22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EA7A22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E28F51-67CB-46CF-9A4F-90F0701A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OpenSCAD Copilot Thesis Deck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5F8FA9-9387-464F-BD64-189F7446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System Prompts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17BA6A-B4B5-496B-9F28-28D0E36C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592A3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592A3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268480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C48157-B0A6-4C02-8318-288FE8BA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7074E-9EF3-4AEF-ADF8-47676FB9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DEA5E5-268C-46F2-9326-93E98048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8CF6B-0278-4CA5-A715-A2FFDB9D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SYSTEM PROMPTS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63E7FA-5783-42EA-B35A-5BD7D044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Family-Specific Prompt 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7CD2C-4C48-4F25-94D9-9A0EC222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988695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8F2E8E-6FE2-4ADC-B9BE-E5E25A4E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88410-22B4-42AC-914A-919458C3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Bearing housing prompts require base, pedestal, boss, bearing seat, and paired holes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712DD-B6EF-4989-9E12-D3B88BB1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BD45D-8612-4F71-AF5E-D3C07257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574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Gear prompts prefer gears.scad instead of fake cube teeth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53F64-ACD4-46DC-AFF6-B83650FB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F7B6E-DB9B-4A77-8016-A8743E6B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Pulley prompts enforce pulley-generator.scad for timing pulleys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6F1EA-F2EF-4F78-A8EE-CAA95F2B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6277A9-04C2-4691-9137-26279BB1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Bracket prompts define correct plate orientation and hole direction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1974D4-2C65-464F-BFEC-875C3B46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14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362121-9C77-41AC-A248-FBCB6FF2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291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These rules reduce known AI failure modes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FDDD50-A629-45DD-9184-29F9E5E8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75260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23FA9D-A454-4F8E-9BA2-289AA85B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71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A7A22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EA7A22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35EDB3-A195-4820-B99B-207EC615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OpenSCAD Copilot Thesis Deck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80CA4E-6713-4C0A-A4AD-D5CEF5B2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System Prompts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59BFC2-9866-44DC-B2C2-D87C4852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592A3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592A3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903318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5F722B-9CBB-4792-A619-A1CC5785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228B4-95AE-4DD5-89E8-3DF0D05B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01485-0D02-4D7E-B3C3-91314308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7996A-6414-4654-B982-8A0DF687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SYSTEM PROMPTS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22C82-6842-4F4C-B5DD-A940BBBC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Material Suggestions Handling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AE4CE6-87B3-4C43-B0CD-E0BDD583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988695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FC0BF-7B01-4FBD-9842-F4B78FA6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B4F66C-21AC-4D2E-A1B2-A725D1E5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Material suggestions come from engineering profiles and JSON docs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224BB-82ED-48C4-9118-13FAA934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76A9B-EF68-4EC7-AFF3-F219A582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574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Materials are returned in design notes or frontend panels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9841E-C4F5-42D2-8560-093B6136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D81D39-83CE-417E-A2CA-1EEC5A07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prompt forbids material prose inside OpenSCAD 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F3F534-10E1-4195-B1A1-732CCEE1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D55EF-01B2-4CF2-9B54-EE0CA76A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Examples include aluminum, cast iron, steel, nylon-CF, PETG, and PLA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F0638A-7676-4DA6-82E3-CF67D6CD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14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23F00-C186-4865-8F72-E9E325D7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291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This separates CAD geometry from engineering recommendation 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1C562F-430E-4BF3-B719-7E2EE913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75260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743E1A-8F2C-4053-8CC0-9C98C170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71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A7A22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EA7A22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058CD9-F629-49D3-8261-902E08C8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OpenSCAD Copilot Thesis Deck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6B5053-D5F5-4163-B714-DAD4E15A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System Prompts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831376-C8A7-4737-A830-01A1898D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592A3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592A3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63732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9DF30C-4871-4891-B87A-116FD87D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BA21B-9D1E-4348-90AE-5D4B6290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23724-C34C-4A9D-8CA8-FF37CCE5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F2E60-2F49-4900-A419-0089E060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SYSTEM PROMPTS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EC3EB-67AE-4DE6-8B90-8183F1C7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Manufacturing and Tolerance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41166-2308-4914-A979-92DFC361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988695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0EC1F-ADF1-44CA-A17B-EF81B970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19796-3DAF-4F7D-B183-F4D18E42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User can select FDM, resin, CNC, or laser 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98773-5486-491E-8FDC-0852AB27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B334F-C527-4192-8233-D1B03869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574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app.py formats manufacturing context before generation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5CBA8C-4C13-445F-BFD5-20F9EFA6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BC78F0-D507-4F2E-B8F7-1EF3D91E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Tolerance blocks guide clearances and fit decisions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1A927D-01F5-4627-AC8E-EAAAF43B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F7CC5-03CD-4764-B0D8-5F49CC89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FDM may require extra shaft or hole clearance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8A17EE-8F1D-41C4-8841-9567ECC6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14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7A22"/>
          </a:solidFill>
          <a:ln xmlns:a="http://schemas.openxmlformats.org/drawingml/2006/main" w="0">
            <a:solidFill>
              <a:srgbClr val="EA7A2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F134EB-136B-4930-BD1E-AF40593A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291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Tolerance guidance helps produce more practical CAD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9CAD3E-92C1-4FC5-A614-DB8F2B53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75260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8984F3-C3D6-4BF5-94C7-6C528FC9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71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A7A22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EA7A22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B4E53C-DA7A-4E32-87FC-3B945288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OpenSCAD Copilot Thesis Deck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F853E7-7C71-4179-B3A2-78B9AEDD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System Prompts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9AC2AE-0A89-4F8A-8664-7B4CEA95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592A3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592A3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810279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1898E4-203F-4C2D-B165-D464878B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474B2-E0D2-4F63-B2FF-854030F5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C6DEA-A227-4A6A-BA95-0B6E937E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EA6B5-A71D-4271-B763-0345E2E5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F3D13-C438-46EB-B2ED-3CE70749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62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3-slide section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673E5-6B12-4A27-AC68-AFE66ED4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Frontend 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42BB8-525C-458E-80D7-4FCD3D54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988695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9505B-0CF0-416D-B982-E45326B0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10C5E-078B-4B72-9860-29209F7A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Static web workspace served by FastAPI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AAA7C-0928-4754-AB3B-ABB3D0A3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460D21-FD61-4D1F-A13A-CF79FE32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574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Main files: index.html, main.js, styles.css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7A61A0-5620-4570-8FFE-C270DE61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859F4D-3173-4876-B4ED-36852DA4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Lets users select model, write prompts, enable RAG, and inspect results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0B3733-A514-4CBA-8836-D35071E1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AF15EF-FE6F-45B2-B5DD-C91996E2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Displays code, preview, validation, materials, and references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A3D920-5BD3-49C9-90AF-BBB2CE64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75260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813CD1-BC75-41A4-8E66-F463EE37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71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259701-10E0-46B8-A38C-31C9B5DA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OpenSCAD Copilot Thesis Deck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A377B0-A543-42DF-8941-24CFEDC9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036291-E4A9-40DA-982F-FB4A7BCC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592A3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592A3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658317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D71B3F-A480-454F-93E8-91B1F717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17471-D2AC-4501-A1C1-12743930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1D9FE-7A05-4F03-8104-E7B88234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A274B-B3A0-4AF8-BF12-7C0F417E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62E84-2BA7-4D03-BFFF-4CE6B3D1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main.js: Interaction and API Logic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2662B-9EA5-4995-B85F-163DE670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988695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FC189-F0A9-4D9A-8D87-B8E404B9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E1582-85C9-4C1A-917F-21811E31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Loads /api/status, /api/models, and /api/knowledge on startup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4CAD70-FD4A-40BD-8578-CAD45477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F81E1-8709-40AB-A84A-E555F3E6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574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Sends prompt payloads to /api/chat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A19C8C-54B3-4D08-AFBA-0E37AD3B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D92D60-76F6-434B-951C-3BF60AC5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Stores conversation history and selected RAG documents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978368-ED19-46AD-8B1D-30E5BEE5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460194-BF0D-4F95-B5FC-FF41A0DC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Renders validation, materials, references, and quality panels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ED8A8A-6EB3-42FE-8BC4-8177FBB8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14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86F8E0-EF9C-43D0-9F24-7D9B15B1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291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Calls /api/export-stl for preview and STL download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62E701-2A7F-4BA0-9C4F-A87DDC44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75260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6F061E-CE33-4B21-8300-F2E1AE54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71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EABFC0-6D8D-4962-B1B2-5CC838F4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OpenSCAD Copilot Thesis Deck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FDAE2C-3C64-4E55-AE1B-24B3B80B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DC8D3A-67E7-4C63-B109-BC268FFB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592A3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592A3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786000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70DED3-6DDD-4E8D-B6A6-C89F2147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539D4-2AB7-47D2-B434-E5B7C7FF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0D2B99-7E6D-4DE0-981D-855491B9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131FC-DA7B-40F0-912C-52B0E8DF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B859F-85E7-4790-8E5E-F11A23E9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User Workflow in the Interface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EDBC2-4C95-4AC9-B61B-34715205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988695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1B5CC-3FF6-463A-AE45-3341AC78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DFFA2-A6C2-42F6-8E73-3D9FD892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Choose provider, model, temperature, and RAG settings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E451E1-05CB-4E06-B588-097C685C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E4B1C-C083-4CF3-A6E3-2361A693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574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Enter or refine a mechanical design prompt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923FC-05D4-488C-99C1-42E6BDA1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C5FC6B-7BEF-4314-B07F-361D1F5B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Review generated OpenSCAD 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7A0877-FD74-4767-A4F8-F0106EE4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A7F50-D42D-4895-9F8D-8DA8C288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Preview STL mesh in the browser using Three.js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A0EFA-F281-4585-83C8-FF37AE43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14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0BD6EE-F689-49D8-8EF9-F0725624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291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Accept, copy, download .scad, or export STL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A6A472-D588-4F4A-B4E7-B4285C20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75260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0C7C67-60F0-4AC3-BB86-11C408F9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71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rPr>
              <a:t>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A10A29-0A71-412B-996A-56A54F92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OpenSCAD Copilot Thesis Deck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70B030-2D49-4C04-9A3E-0B56D1B4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DE92D1-19C6-424C-8BC9-327D5FEA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592A3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592A3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080260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9B5A8B-3931-4CB5-9E43-8EFA129B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7F700-FBA6-4A68-A873-7E866CA5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3710D-BF1D-4D0E-BF4D-CD227AFE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CCBD6-2167-473F-B09D-D7EC0E20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DOCS + KNOWLEDGE BASE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8D9C2-FC7A-4E9A-8C46-EE12AE9A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62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F9E4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9E44"/>
                </a:solidFill>
                <a:latin typeface="Aptos"/>
                <a:ea typeface="Aptos"/>
                <a:cs typeface="Aptos"/>
              </a:rPr>
              <a:t>8-slide section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78024-B35A-41B7-B147-08B34C2E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backend/docs: Knowledge Base Folder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73139B-626D-4F5B-AFC8-045FFF16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988695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1942C-6E95-4331-BD3C-4042864A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2DC71B-384F-4E1D-ACDE-BC978E01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Active RAG documents are stored under backend/docs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0D985-EF5E-4429-A5A0-293DB385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50714-104D-4076-924D-217C53C8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574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Files represent mechanical families and support references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D9C548-F5AF-4420-B46C-59161671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286F5-C9BC-40B1-A22E-26F4F8AD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rag.py loads these files during KnowledgeBase initialization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60C97B-6081-4022-A705-7157AACF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03CED2-5962-43B4-BF9C-C3AABAB1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folder is the engineering memory of the 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50D85E-E79A-4C21-9AC0-E3E51FFA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75260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17050A-2075-4BBF-94A7-7C422721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71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9E4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F9E44"/>
                </a:solidFill>
                <a:latin typeface="Aptos Display"/>
                <a:ea typeface="Aptos Display"/>
                <a:cs typeface="Aptos Display"/>
              </a:rPr>
              <a:t>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15CCFD-808B-4B4D-9962-E588D142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OpenSCAD Copilot Thesis Deck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EBEB1D-A27B-4138-81D4-205A15C4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Docs + Knowledge 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28C19F-AA95-4F8D-B660-D9DCC4EB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592A3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592A3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583330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996B34-BBFE-4456-BC16-02A958B5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FAF0E-8F0E-4905-BF10-E4C33BFC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345ED-D6BC-442E-B3FB-5B2FCA1E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52733-466C-499E-8250-5D0F731C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DOCS + KNOWLEDGE BASE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590E5-DE16-42C4-8A0B-CB4BF541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Knowledge File Types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A2F61-A88C-455C-B1A1-1D43CC44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988695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2BC5C-0F39-47CF-A457-08F8B7FA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DA05B-25C8-4E24-A43D-615811CB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.txt files: human-readable rulebooks and examples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09CB6-AE33-445E-9321-48D6DE63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0B4B9-493D-4582-95FA-B24B5C41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574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.json files: structured mechanical part databases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9AA5C9-290F-4786-9D3A-8D0C299B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FB229-EAC4-453A-9A4E-E14B1178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.scad files: reusable OpenSCAD library modules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56D44-5393-4B1B-B7D8-C0FEAE51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B8FE89-60DD-4D1B-938C-E8407134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Each format supports a different retrieval or generation need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77FA5A-1ACF-484A-AC2B-212D4CE2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75260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1BCE02-B931-4293-80B8-E294DCD1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71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9E4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F9E44"/>
                </a:solidFill>
                <a:latin typeface="Aptos Display"/>
                <a:ea typeface="Aptos Display"/>
                <a:cs typeface="Aptos Display"/>
              </a:rPr>
              <a:t>17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07CBDB-8630-4B6E-981D-98AEC2A6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OpenSCAD Copilot Thesis Deck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448CAE-5998-4683-9995-C1164CD0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Docs + Knowledge 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BD3345-9597-4C02-AE89-485B46C6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592A3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592A3"/>
                </a:solidFill>
                <a:latin typeface="Consolas"/>
                <a:ea typeface="Consolas"/>
                <a:cs typeface="Consola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890442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2EF80E-2FDD-49A0-BDB4-784E38C6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2078A-B740-4437-98E9-F64BC831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68855-4AD1-49E2-B12B-23FF6126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759AE-3927-46BE-85A1-5849C76C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DOCS + KNOWLEDGE BASE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6D9F3-8CB1-432A-90D9-49A8D7EF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JSON Database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CB8F2-5360-452D-880D-E6A0048F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988695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DD8E1C-AC2E-4B07-9849-5EA29C36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6C57E3-794A-4CAB-A47B-3CAA1782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metadata defines family, label, units, and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066C8-8C2E-4525-BF7D-E1E9C8A2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B0B4E-D66E-4274-A3C7-E36F4B61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574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parts contain named mechanical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EE970C-E403-4BE9-98A7-C06D3E10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56A492-2CA9-45FA-927E-B8543F03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records include dimensions, features, constraints, and standards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CDAC07-D7FC-4F07-B727-9FDC84C4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B85B24-F4C1-487B-8835-EF358489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material suggestions are marked for chat-after-code 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F874B6-5C64-4DB1-857A-1EB3ABBE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14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8C52EE-F451-49F6-A38D-B56F9443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291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validation criteria become quality expectations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FEF159-3BB3-4DFE-9533-986735AE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75260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37B7EF-131E-434A-8910-0B9F3245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71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9E4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F9E44"/>
                </a:solidFill>
                <a:latin typeface="Aptos Display"/>
                <a:ea typeface="Aptos Display"/>
                <a:cs typeface="Aptos Display"/>
              </a:rPr>
              <a:t>18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266B57-7482-4050-8FFC-47190136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OpenSCAD Copilot Thesis Deck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CB9532-ED8D-4DAF-AF4F-F23D85A5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Docs + Knowledge Base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26129A-FB16-4436-96DA-9A1EA756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592A3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592A3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609110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9BE96B-FA20-4F09-8FB2-08499518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711C5-A0BE-42D6-ABC6-AB393558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542D2-754A-403F-B9C9-0C65F60A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F0FE9-0400-4C3C-8CB4-EC8EF1E7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DOCS + KNOWLEDGE BASE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225CF-AEE3-4390-95C2-C5DF0146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TXT Reference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24A640-E13D-49CA-9C4E-6D658EDF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988695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067DB-02CC-4E4D-881B-5571F823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1F9F6-D801-4A30-98B4-439198B6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Describes part families in readable engineering language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79066-21A7-4396-8909-A8AE03E7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AABCA-D299-4012-B4D6-417CDF3F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574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Contains standard dimensions and key parameters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FB443F-7D6B-4227-9715-4E7E9419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FEEC78-CD51-485C-8386-C4F523B5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Includes OpenSCAD modeling patterns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8ACADE-D8D2-4096-B7C1-7C11D922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DA6346-711C-4C9C-A002-DEEC215A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Documents common failure modes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D45A2F-F72D-46DE-84FA-FA89D8BD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14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019326-BD9E-4644-8DD0-13C24E00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291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Provides examples for RAG prompt grounding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817732-1EDF-4F77-9CF1-C648DDCD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75260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ED878A-CADB-451C-85CB-5F18A01E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71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9E4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F9E44"/>
                </a:solidFill>
                <a:latin typeface="Aptos Display"/>
                <a:ea typeface="Aptos Display"/>
                <a:cs typeface="Aptos Display"/>
              </a:rPr>
              <a:t>19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09DDCA-0ED2-445F-8617-EE0BA85F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OpenSCAD Copilot Thesis Deck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B589B0-D464-45B6-9B07-CF107D49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Docs + Knowledge Base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A63BC7-3D06-4468-A450-931C6B39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592A3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592A3"/>
                </a:solidFill>
                <a:latin typeface="Consolas"/>
                <a:ea typeface="Consolas"/>
                <a:cs typeface="Consola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7896919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BED9BF-314D-485A-9643-D3256AE1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6810E-1760-480E-AEBC-4BCCD294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C2FC2-9F70-4A52-93F7-5B842266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2F87A-ABA9-4D97-9D26-91D8D37D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DOCS + KNOWLEDGE BASE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EA2EE-3728-430B-9295-8B518DE8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SCAD Reference Libraries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D9448-9728-4832-BA0E-3865E47D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988695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3F379-7D8B-4B1C-BA11-BFB719F6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6264E-14F0-44DD-B268-8F95D4B8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Example: sprocket.scad in backend/docs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C3823-1549-4BDC-8078-0BA3889D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4E5BD-DA85-47E4-AC97-28C5AD7D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574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Provides reusable CAD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50ED82-02E3-45FA-8C7D-FAD62D96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2C63A8-A805-4654-A147-27C90689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Prevents the model from reinventing complex geometry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B7E336-AED1-4396-B872-6FB91F77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EB2E21-BABF-4356-9E19-9C9D5FDA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Improves accuracy for specialized mechanical parts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F0386-39AE-4128-905D-368B53EA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14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AD8A93-0434-4BBA-8D5F-C567DFCE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291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Can be referenced through RAG and prompt instructions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7716EE-ED50-4C89-921E-56FFFB37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75260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1F03AF-3D77-4925-8177-99B0CDA3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71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9E4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F9E44"/>
                </a:solidFill>
                <a:latin typeface="Aptos Display"/>
                <a:ea typeface="Aptos Display"/>
                <a:cs typeface="Aptos Display"/>
              </a:rPr>
              <a:t>20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CF59D9-F083-4FD6-8CB1-5A31E94A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OpenSCAD Copilot Thesis Deck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AA1B26-530D-40F2-A110-28336F8D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Docs + Knowledge Base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AC5FB4-858A-4784-9B99-3F6DE32D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592A3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592A3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761684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2FE084-A0C0-4860-9EB9-DAD700C3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EEB28-3901-4660-B628-DC711586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34BCC-A83C-4DA1-ADDC-31A3680F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39DE3-16E3-401D-A54D-9740B156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DOCS + KNOWLEDGE BASE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54327-F364-44D8-94A9-9098EC38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Family-Based Organization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18EEE-234D-4BAE-B43E-E79D376B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988695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7C0FDA-974D-4A0A-9016-BD685EBD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04BF7-8CD8-41B4-AC4A-0069C4BE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Files are named by mechanical family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F2D3A-1959-4ED6-829F-511AA8F2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69B53-04E0-4C09-967C-CC3EA113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574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Examples: bearing_housing_reference, gear_reference, pulley_belt_drive_reference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5A45E1-83B4-432D-89A9-4E0FB7A9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E86CF-C2D0-4678-A74A-B7FF8383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Family IDs connect docs, RAG retrieval, prompts, and 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70B12-9016-4BBD-9ABB-8B84E676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FC793-3149-477E-A2DB-63B4FA78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This creates a consistent domain taxonomy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C8B851-57DB-48C8-B201-8B79D2CF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75260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8BD445-8CE1-4D7B-9964-276BB71D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71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9E4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F9E44"/>
                </a:solidFill>
                <a:latin typeface="Aptos Display"/>
                <a:ea typeface="Aptos Display"/>
                <a:cs typeface="Aptos Display"/>
              </a:rPr>
              <a:t>21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667A6E-86C0-4A14-A549-254ADAB0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OpenSCAD Copilot Thesis Deck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65D41A-7A20-41FE-996D-95C72E98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Docs + Knowledge 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8FBBD3-EE5B-43AA-AEF5-348575A5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592A3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592A3"/>
                </a:solidFill>
                <a:latin typeface="Consolas"/>
                <a:ea typeface="Consolas"/>
                <a:cs typeface="Consola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76386927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1519BA-4904-42BE-BC4E-F90835CF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A6F36-314E-45AD-89E6-37B459DD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4B2F1-EE74-4321-96D4-4529B456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E40E6-7BEE-4057-80E0-9CF289EB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DOCS + KNOWLEDGE BASE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FA424-A333-45AF-95D1-E65DE093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From Docs to Retrieved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EAD76-5BAC-4820-A228-A7DCD3D3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988695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32E1C-533E-4CD0-869D-3B498E91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8E1FF-C605-4134-A6E6-AD4E01EC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rag.py loads docs as Document objects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C25FE-544E-4073-A8DA-4DF83CD5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A02074-1B2A-4060-BA7F-77FB0E2A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574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Embeddings or TF-IDF make documents searchable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9F3C4A-4610-4B4E-882D-F2A27E81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60A88-9830-448D-9B12-80B3D2B1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Family-aware ranking selects the most relevant records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7582A-98CB-406F-9F36-4ED712DC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B62719-C9FA-4E17-9529-3419CA55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app.py injects retrieved text into the AI 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5D9FB0-4F5F-43B6-BEDE-595DB354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14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9E5BF3-50F9-4816-8840-BC4E0F68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291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Frontend displays retrieved references for explainability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98C810-EEEA-4A1B-8CDC-AE3567EF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75260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10D768-7FC6-452F-875B-14A76945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71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9E4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F9E44"/>
                </a:solidFill>
                <a:latin typeface="Aptos Display"/>
                <a:ea typeface="Aptos Display"/>
                <a:cs typeface="Aptos Display"/>
              </a:rPr>
              <a:t>22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22AF1-F81F-450B-BE92-69D9FBAA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OpenSCAD Copilot Thesis Deck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510C45-5AF8-47E6-9A56-06078702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Docs + Knowledge Base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A0C6C0-099B-448B-83A8-F2C7C055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592A3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592A3"/>
                </a:solidFill>
                <a:latin typeface="Consolas"/>
                <a:ea typeface="Consolas"/>
                <a:cs typeface="Consola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8507309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643FC5-5D16-4161-9B7C-A1F9C2AF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C98C1-BC16-4FE7-8D20-223B5E7C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7104F-7547-4217-9662-F47F944E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B97F1-CA72-490F-B130-7BE474D0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DOCS + KNOWLEDGE BASE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7CB9C-E7CE-45AA-BF6F-EAF03227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Knowledge Base and Validation Link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0DD8D-6D2D-4911-B95A-ADBE4BF5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988695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03A6E-CCAE-49F2-B073-DB8B4BBD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21270-7370-4189-8E60-5D67E4A5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Docs define required mechanical features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2E104A-22ED-44D1-B64B-ED231D04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770D3-2CCF-4608-A0FB-6D194B5E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574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Derived formulas in docs guide validation checks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24A569-6574-46E0-BDD4-CE272879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D8D903-BBF9-483F-B652-62018252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Failure modes become warnings or hard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B95204-05B8-4898-A441-2F0C4A55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B1B0A4-FBD0-4B69-82CD-1C32B630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Material and output policies shape final responses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ACB9B-C528-4774-B2EE-1498A5A4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14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5FE770-30EB-42D3-9EC4-ADB808A5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291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63">
                <a:solidFill>
                  <a:srgbClr val="111827"/>
                </a:solidFill>
                <a:latin typeface="Aptos"/>
                <a:ea typeface="Aptos"/>
                <a:cs typeface="Aptos"/>
              </a:rPr>
              <a:t>Knowledge, generation, and validation form a closed loop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4C576B-BA6A-45C6-B2D3-C493910D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75260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DE6797-4399-49A2-A886-5BFBCF03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71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9E4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F9E44"/>
                </a:solidFill>
                <a:latin typeface="Aptos Display"/>
                <a:ea typeface="Aptos Display"/>
                <a:cs typeface="Aptos Display"/>
              </a:rPr>
              <a:t>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8B93CB-DBDA-4EE0-BE1B-B8232489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OpenSCAD Copilot Thesis Deck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54CB38-D2CD-4CF2-96F2-DADAE498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515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592A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592A3"/>
                </a:solidFill>
                <a:latin typeface="Aptos"/>
                <a:ea typeface="Aptos"/>
                <a:cs typeface="Aptos"/>
              </a:rPr>
              <a:t>Docs + Knowledge Base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5F989A-FC26-46DC-B5C2-07E933C9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592A3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592A3"/>
                </a:solidFill>
                <a:latin typeface="Consolas"/>
                <a:ea typeface="Consolas"/>
                <a:cs typeface="Consola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6331262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2026-06-15T17:48:57.8620000Z</dcterms:created>
  <dcterms:modified xsi:type="dcterms:W3CDTF">2026-06-15T17:48:57.8620000Z</dcterms:modified>
</coreProperties>
</file>